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erriweather Bold" charset="1" panose="00000800000000000000"/>
      <p:regular r:id="rId16"/>
    </p:embeddedFont>
    <p:embeddedFont>
      <p:font typeface="Work Sans Bold" charset="1" panose="00000000000000000000"/>
      <p:regular r:id="rId17"/>
    </p:embeddedFon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  <p:embeddedFont>
      <p:font typeface="Work Sans" charset="1" panose="00000000000000000000"/>
      <p:regular r:id="rId20"/>
    </p:embeddedFont>
    <p:embeddedFont>
      <p:font typeface="Proxima Nova Bold" charset="1" panose="02000506030000020004"/>
      <p:regular r:id="rId21"/>
    </p:embeddedFont>
    <p:embeddedFont>
      <p:font typeface="Proxima Nova" charset="1" panose="0200050603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3.png" Type="http://schemas.openxmlformats.org/officeDocument/2006/relationships/image"/><Relationship Id="rId20" Target="../media/image21.sv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5444" y="-514350"/>
            <a:ext cx="5104806" cy="9772650"/>
            <a:chOff x="0" y="0"/>
            <a:chExt cx="1344476" cy="25738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476" cy="2573867"/>
            </a:xfrm>
            <a:custGeom>
              <a:avLst/>
              <a:gdLst/>
              <a:ahLst/>
              <a:cxnLst/>
              <a:rect r="r" b="b" t="t" l="l"/>
              <a:pathLst>
                <a:path h="2573867" w="1344476">
                  <a:moveTo>
                    <a:pt x="77346" y="0"/>
                  </a:moveTo>
                  <a:lnTo>
                    <a:pt x="1267129" y="0"/>
                  </a:lnTo>
                  <a:cubicBezTo>
                    <a:pt x="1309847" y="0"/>
                    <a:pt x="1344476" y="34629"/>
                    <a:pt x="1344476" y="77346"/>
                  </a:cubicBezTo>
                  <a:lnTo>
                    <a:pt x="1344476" y="2496520"/>
                  </a:lnTo>
                  <a:cubicBezTo>
                    <a:pt x="1344476" y="2517034"/>
                    <a:pt x="1336327" y="2536707"/>
                    <a:pt x="1321821" y="2551212"/>
                  </a:cubicBezTo>
                  <a:cubicBezTo>
                    <a:pt x="1307316" y="2565718"/>
                    <a:pt x="1287643" y="2573867"/>
                    <a:pt x="1267129" y="2573867"/>
                  </a:cubicBezTo>
                  <a:lnTo>
                    <a:pt x="77346" y="2573867"/>
                  </a:lnTo>
                  <a:cubicBezTo>
                    <a:pt x="56833" y="2573867"/>
                    <a:pt x="37159" y="2565718"/>
                    <a:pt x="22654" y="2551212"/>
                  </a:cubicBezTo>
                  <a:cubicBezTo>
                    <a:pt x="8149" y="2536707"/>
                    <a:pt x="0" y="2517034"/>
                    <a:pt x="0" y="2496520"/>
                  </a:cubicBezTo>
                  <a:lnTo>
                    <a:pt x="0" y="77346"/>
                  </a:lnTo>
                  <a:cubicBezTo>
                    <a:pt x="0" y="56833"/>
                    <a:pt x="8149" y="37159"/>
                    <a:pt x="22654" y="22654"/>
                  </a:cubicBezTo>
                  <a:cubicBezTo>
                    <a:pt x="37159" y="8149"/>
                    <a:pt x="56833" y="0"/>
                    <a:pt x="77346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4476" cy="26119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028700"/>
            <a:ext cx="7200900" cy="8229600"/>
          </a:xfrm>
          <a:custGeom>
            <a:avLst/>
            <a:gdLst/>
            <a:ahLst/>
            <a:cxnLst/>
            <a:rect r="r" b="b" t="t" l="l"/>
            <a:pathLst>
              <a:path h="8229600" w="7200900">
                <a:moveTo>
                  <a:pt x="0" y="0"/>
                </a:moveTo>
                <a:lnTo>
                  <a:pt x="7200900" y="0"/>
                </a:lnTo>
                <a:lnTo>
                  <a:pt x="72009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12926" y="1795793"/>
            <a:ext cx="13185854" cy="465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75"/>
              </a:lnSpc>
            </a:pPr>
            <a:r>
              <a:rPr lang="en-US" sz="10175" b="tru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EXECUTIVE</a:t>
            </a:r>
          </a:p>
          <a:p>
            <a:pPr algn="l">
              <a:lnSpc>
                <a:spcPts val="10175"/>
              </a:lnSpc>
            </a:pPr>
            <a:r>
              <a:rPr lang="en-US" sz="10175" b="tru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PRODUCTIVITY</a:t>
            </a:r>
          </a:p>
          <a:p>
            <a:pPr algn="l">
              <a:lnSpc>
                <a:spcPts val="10175"/>
              </a:lnSpc>
            </a:pPr>
            <a:r>
              <a:rPr lang="en-US" sz="10175" b="tru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AGENT</a:t>
            </a:r>
          </a:p>
          <a:p>
            <a:pPr algn="l">
              <a:lnSpc>
                <a:spcPts val="6105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766338" y="7245137"/>
            <a:ext cx="10413697" cy="108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Transform fragmented workplace communication</a:t>
            </a:r>
          </a:p>
          <a:p>
            <a:pPr algn="l">
              <a:lnSpc>
                <a:spcPts val="2799"/>
              </a:lnSpc>
            </a:pPr>
            <a:r>
              <a:rPr lang="en-US" sz="2799" b="tru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into a clear, actionable executive brief.</a:t>
            </a:r>
          </a:p>
          <a:p>
            <a:pPr algn="l">
              <a:lnSpc>
                <a:spcPts val="27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187270" y="9094662"/>
            <a:ext cx="276389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Presented by Ashna Shalu 23csu060</a:t>
            </a:r>
          </a:p>
          <a:p>
            <a:pPr algn="l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47042" y="815092"/>
            <a:ext cx="12579133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Pro</a:t>
            </a:r>
            <a:r>
              <a:rPr lang="en-US" b="true" sz="6999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blem &amp; Solution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84615" y="2386717"/>
            <a:ext cx="7976749" cy="6604083"/>
            <a:chOff x="0" y="0"/>
            <a:chExt cx="10635666" cy="88054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35615" cy="8805418"/>
            </a:xfrm>
            <a:custGeom>
              <a:avLst/>
              <a:gdLst/>
              <a:ahLst/>
              <a:cxnLst/>
              <a:rect r="r" b="b" t="t" l="l"/>
              <a:pathLst>
                <a:path h="8805418" w="10635615">
                  <a:moveTo>
                    <a:pt x="0" y="1467612"/>
                  </a:moveTo>
                  <a:cubicBezTo>
                    <a:pt x="0" y="657098"/>
                    <a:pt x="657098" y="0"/>
                    <a:pt x="1467612" y="0"/>
                  </a:cubicBezTo>
                  <a:lnTo>
                    <a:pt x="9168003" y="0"/>
                  </a:lnTo>
                  <a:cubicBezTo>
                    <a:pt x="9978517" y="0"/>
                    <a:pt x="10635615" y="657098"/>
                    <a:pt x="10635615" y="1467612"/>
                  </a:cubicBezTo>
                  <a:lnTo>
                    <a:pt x="10635615" y="7337806"/>
                  </a:lnTo>
                  <a:cubicBezTo>
                    <a:pt x="10635615" y="8148320"/>
                    <a:pt x="9978517" y="8805418"/>
                    <a:pt x="9168003" y="8805418"/>
                  </a:cubicBezTo>
                  <a:lnTo>
                    <a:pt x="1467612" y="8805418"/>
                  </a:lnTo>
                  <a:cubicBezTo>
                    <a:pt x="657098" y="8805418"/>
                    <a:pt x="0" y="8148320"/>
                    <a:pt x="0" y="733780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395479" y="2893047"/>
            <a:ext cx="307623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5479" y="3528679"/>
            <a:ext cx="7073163" cy="94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</a:pPr>
            <a:r>
              <a:rPr lang="en-US" sz="2434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Executive commitments are fragmented across multiple workplace sources.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5479" y="4677518"/>
            <a:ext cx="7465886" cy="381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Commitments can be mentioned more than once.</a:t>
            </a:r>
          </a:p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Ownership may be explicit, shared, or unclear.</a:t>
            </a:r>
          </a:p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Deadlines and follow-ups can be buried in communication.</a:t>
            </a:r>
          </a:p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Executives need a concise view of what requires attention now.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57909" y="2386717"/>
            <a:ext cx="8114024" cy="6604083"/>
            <a:chOff x="0" y="0"/>
            <a:chExt cx="10818698" cy="88054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18749" cy="8805418"/>
            </a:xfrm>
            <a:custGeom>
              <a:avLst/>
              <a:gdLst/>
              <a:ahLst/>
              <a:cxnLst/>
              <a:rect r="r" b="b" t="t" l="l"/>
              <a:pathLst>
                <a:path h="8805418" w="10818749">
                  <a:moveTo>
                    <a:pt x="0" y="1467612"/>
                  </a:moveTo>
                  <a:cubicBezTo>
                    <a:pt x="0" y="657098"/>
                    <a:pt x="657098" y="0"/>
                    <a:pt x="1467612" y="0"/>
                  </a:cubicBezTo>
                  <a:lnTo>
                    <a:pt x="9351137" y="0"/>
                  </a:lnTo>
                  <a:cubicBezTo>
                    <a:pt x="10161651" y="0"/>
                    <a:pt x="10818749" y="657098"/>
                    <a:pt x="10818749" y="1467612"/>
                  </a:cubicBezTo>
                  <a:lnTo>
                    <a:pt x="10818749" y="7337806"/>
                  </a:lnTo>
                  <a:cubicBezTo>
                    <a:pt x="10818749" y="8148320"/>
                    <a:pt x="10161651" y="8805418"/>
                    <a:pt x="9351137" y="8805418"/>
                  </a:cubicBezTo>
                  <a:lnTo>
                    <a:pt x="1467612" y="8805418"/>
                  </a:lnTo>
                  <a:cubicBezTo>
                    <a:pt x="657098" y="8805418"/>
                    <a:pt x="0" y="8148320"/>
                    <a:pt x="0" y="7337806"/>
                  </a:cubicBezTo>
                  <a:close/>
                </a:path>
              </a:pathLst>
            </a:custGeom>
            <a:solidFill>
              <a:srgbClr val="B8E7C9"/>
            </a:solidFill>
            <a:ln w="15252" cap="sq">
              <a:solidFill>
                <a:srgbClr val="DCE1F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768783" y="2893047"/>
            <a:ext cx="198608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The 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68783" y="3524469"/>
            <a:ext cx="640594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Executive Productivity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8783" y="4320626"/>
            <a:ext cx="7490517" cy="91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2405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Transforms supplied workplace inputs into one structured view of: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69713" y="5406600"/>
            <a:ext cx="3103769" cy="481965"/>
            <a:chOff x="0" y="0"/>
            <a:chExt cx="4138358" cy="6426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677343" y="5455406"/>
            <a:ext cx="3088510" cy="450800"/>
            <a:chOff x="0" y="0"/>
            <a:chExt cx="4118013" cy="6010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4F46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Commitments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70027" y="5406600"/>
            <a:ext cx="3103769" cy="481965"/>
            <a:chOff x="0" y="0"/>
            <a:chExt cx="4138358" cy="6426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177657" y="5455406"/>
            <a:ext cx="3088510" cy="450800"/>
            <a:chOff x="0" y="0"/>
            <a:chExt cx="4118013" cy="6010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38BDF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My actions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69713" y="6367462"/>
            <a:ext cx="3103769" cy="481965"/>
            <a:chOff x="0" y="0"/>
            <a:chExt cx="4138358" cy="6426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77343" y="6416269"/>
            <a:ext cx="3088510" cy="450800"/>
            <a:chOff x="0" y="0"/>
            <a:chExt cx="4118013" cy="6010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Waiting on others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170027" y="6367462"/>
            <a:ext cx="3103769" cy="481965"/>
            <a:chOff x="0" y="0"/>
            <a:chExt cx="4138358" cy="6426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3177657" y="6416269"/>
            <a:ext cx="3088510" cy="450800"/>
            <a:chOff x="0" y="0"/>
            <a:chExt cx="4118013" cy="6010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Deadlines / overdue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69713" y="7328335"/>
            <a:ext cx="3103769" cy="481965"/>
            <a:chOff x="0" y="0"/>
            <a:chExt cx="4138358" cy="6426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677343" y="7377141"/>
            <a:ext cx="3088510" cy="450800"/>
            <a:chOff x="0" y="0"/>
            <a:chExt cx="4118013" cy="6010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Ownership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170027" y="7328335"/>
            <a:ext cx="3103769" cy="481965"/>
            <a:chOff x="0" y="0"/>
            <a:chExt cx="4138358" cy="6426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38295" cy="642620"/>
            </a:xfrm>
            <a:custGeom>
              <a:avLst/>
              <a:gdLst/>
              <a:ahLst/>
              <a:cxnLst/>
              <a:rect r="r" b="b" t="t" l="l"/>
              <a:pathLst>
                <a:path h="642620" w="413829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4031234" y="0"/>
                  </a:lnTo>
                  <a:cubicBezTo>
                    <a:pt x="4090416" y="0"/>
                    <a:pt x="4138295" y="48006"/>
                    <a:pt x="4138295" y="107061"/>
                  </a:cubicBezTo>
                  <a:lnTo>
                    <a:pt x="4138295" y="535559"/>
                  </a:lnTo>
                  <a:cubicBezTo>
                    <a:pt x="4138295" y="594741"/>
                    <a:pt x="4090289" y="642620"/>
                    <a:pt x="403123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177657" y="7377141"/>
            <a:ext cx="3088510" cy="450800"/>
            <a:chOff x="0" y="0"/>
            <a:chExt cx="4118013" cy="60106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18017" cy="601069"/>
            </a:xfrm>
            <a:custGeom>
              <a:avLst/>
              <a:gdLst/>
              <a:ahLst/>
              <a:cxnLst/>
              <a:rect r="r" b="b" t="t" l="l"/>
              <a:pathLst>
                <a:path h="601069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601069"/>
                  </a:lnTo>
                  <a:lnTo>
                    <a:pt x="0" y="601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433" r="0" b="-7155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118013" cy="601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Daily 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71530" y="6602444"/>
            <a:ext cx="5104806" cy="4298193"/>
            <a:chOff x="0" y="0"/>
            <a:chExt cx="1344476" cy="11320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4476" cy="1132034"/>
            </a:xfrm>
            <a:custGeom>
              <a:avLst/>
              <a:gdLst/>
              <a:ahLst/>
              <a:cxnLst/>
              <a:rect r="r" b="b" t="t" l="l"/>
              <a:pathLst>
                <a:path h="1132034" w="1344476">
                  <a:moveTo>
                    <a:pt x="77346" y="0"/>
                  </a:moveTo>
                  <a:lnTo>
                    <a:pt x="1267129" y="0"/>
                  </a:lnTo>
                  <a:cubicBezTo>
                    <a:pt x="1309847" y="0"/>
                    <a:pt x="1344476" y="34629"/>
                    <a:pt x="1344476" y="77346"/>
                  </a:cubicBezTo>
                  <a:lnTo>
                    <a:pt x="1344476" y="1054688"/>
                  </a:lnTo>
                  <a:cubicBezTo>
                    <a:pt x="1344476" y="1075202"/>
                    <a:pt x="1336327" y="1094875"/>
                    <a:pt x="1321821" y="1109380"/>
                  </a:cubicBezTo>
                  <a:cubicBezTo>
                    <a:pt x="1307316" y="1123885"/>
                    <a:pt x="1287643" y="1132034"/>
                    <a:pt x="1267129" y="1132034"/>
                  </a:cubicBezTo>
                  <a:lnTo>
                    <a:pt x="77346" y="1132034"/>
                  </a:lnTo>
                  <a:cubicBezTo>
                    <a:pt x="56833" y="1132034"/>
                    <a:pt x="37159" y="1123885"/>
                    <a:pt x="22654" y="1109380"/>
                  </a:cubicBezTo>
                  <a:cubicBezTo>
                    <a:pt x="8149" y="1094875"/>
                    <a:pt x="0" y="1075202"/>
                    <a:pt x="0" y="1054688"/>
                  </a:cubicBezTo>
                  <a:lnTo>
                    <a:pt x="0" y="77346"/>
                  </a:lnTo>
                  <a:cubicBezTo>
                    <a:pt x="0" y="56833"/>
                    <a:pt x="8149" y="37159"/>
                    <a:pt x="22654" y="22654"/>
                  </a:cubicBezTo>
                  <a:cubicBezTo>
                    <a:pt x="37159" y="8149"/>
                    <a:pt x="56833" y="0"/>
                    <a:pt x="77346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4476" cy="1170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122319" y="2135197"/>
            <a:ext cx="6608866" cy="273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9"/>
              </a:lnSpc>
              <a:spcBef>
                <a:spcPct val="0"/>
              </a:spcBef>
            </a:pPr>
            <a:r>
              <a:rPr lang="en-US" b="true" sz="7079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Inpu</a:t>
            </a:r>
            <a:r>
              <a:rPr lang="en-US" b="true" sz="707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t</a:t>
            </a:r>
            <a:r>
              <a:rPr lang="en-US" b="true" sz="707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s,</a:t>
            </a:r>
            <a:r>
              <a:rPr lang="en-US" b="true" sz="707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Sources &amp; Assumptions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1019175"/>
            <a:ext cx="1106703" cy="850487"/>
            <a:chOff x="0" y="0"/>
            <a:chExt cx="238343" cy="1831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8343" cy="183164"/>
            </a:xfrm>
            <a:custGeom>
              <a:avLst/>
              <a:gdLst/>
              <a:ahLst/>
              <a:cxnLst/>
              <a:rect r="r" b="b" t="t" l="l"/>
              <a:pathLst>
                <a:path h="183164" w="238343">
                  <a:moveTo>
                    <a:pt x="91582" y="0"/>
                  </a:moveTo>
                  <a:lnTo>
                    <a:pt x="146761" y="0"/>
                  </a:lnTo>
                  <a:cubicBezTo>
                    <a:pt x="171050" y="0"/>
                    <a:pt x="194345" y="9649"/>
                    <a:pt x="211519" y="26824"/>
                  </a:cubicBezTo>
                  <a:cubicBezTo>
                    <a:pt x="228694" y="43999"/>
                    <a:pt x="238343" y="67293"/>
                    <a:pt x="238343" y="91582"/>
                  </a:cubicBezTo>
                  <a:lnTo>
                    <a:pt x="238343" y="91582"/>
                  </a:lnTo>
                  <a:cubicBezTo>
                    <a:pt x="238343" y="115871"/>
                    <a:pt x="228694" y="139165"/>
                    <a:pt x="211519" y="156340"/>
                  </a:cubicBezTo>
                  <a:cubicBezTo>
                    <a:pt x="194345" y="173515"/>
                    <a:pt x="171050" y="183164"/>
                    <a:pt x="146761" y="183164"/>
                  </a:cubicBezTo>
                  <a:lnTo>
                    <a:pt x="91582" y="183164"/>
                  </a:lnTo>
                  <a:cubicBezTo>
                    <a:pt x="67293" y="183164"/>
                    <a:pt x="43999" y="173515"/>
                    <a:pt x="26824" y="156340"/>
                  </a:cubicBezTo>
                  <a:cubicBezTo>
                    <a:pt x="9649" y="139165"/>
                    <a:pt x="0" y="115871"/>
                    <a:pt x="0" y="91582"/>
                  </a:cubicBezTo>
                  <a:lnTo>
                    <a:pt x="0" y="91582"/>
                  </a:lnTo>
                  <a:cubicBezTo>
                    <a:pt x="0" y="67293"/>
                    <a:pt x="9649" y="43999"/>
                    <a:pt x="26824" y="26824"/>
                  </a:cubicBezTo>
                  <a:cubicBezTo>
                    <a:pt x="43999" y="9649"/>
                    <a:pt x="67293" y="0"/>
                    <a:pt x="91582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4099" y="1203316"/>
            <a:ext cx="875905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86796" y="1328411"/>
            <a:ext cx="600137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Emails &amp; meetings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228850"/>
            <a:ext cx="7672375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Commitments, follow-ups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,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dead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l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ines 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nd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context, Statements and commitmentsmade during discussion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3611880"/>
            <a:ext cx="1106703" cy="850487"/>
            <a:chOff x="0" y="0"/>
            <a:chExt cx="238343" cy="1831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343" cy="183164"/>
            </a:xfrm>
            <a:custGeom>
              <a:avLst/>
              <a:gdLst/>
              <a:ahLst/>
              <a:cxnLst/>
              <a:rect r="r" b="b" t="t" l="l"/>
              <a:pathLst>
                <a:path h="183164" w="238343">
                  <a:moveTo>
                    <a:pt x="91582" y="0"/>
                  </a:moveTo>
                  <a:lnTo>
                    <a:pt x="146761" y="0"/>
                  </a:lnTo>
                  <a:cubicBezTo>
                    <a:pt x="171050" y="0"/>
                    <a:pt x="194345" y="9649"/>
                    <a:pt x="211519" y="26824"/>
                  </a:cubicBezTo>
                  <a:cubicBezTo>
                    <a:pt x="228694" y="43999"/>
                    <a:pt x="238343" y="67293"/>
                    <a:pt x="238343" y="91582"/>
                  </a:cubicBezTo>
                  <a:lnTo>
                    <a:pt x="238343" y="91582"/>
                  </a:lnTo>
                  <a:cubicBezTo>
                    <a:pt x="238343" y="115871"/>
                    <a:pt x="228694" y="139165"/>
                    <a:pt x="211519" y="156340"/>
                  </a:cubicBezTo>
                  <a:cubicBezTo>
                    <a:pt x="194345" y="173515"/>
                    <a:pt x="171050" y="183164"/>
                    <a:pt x="146761" y="183164"/>
                  </a:cubicBezTo>
                  <a:lnTo>
                    <a:pt x="91582" y="183164"/>
                  </a:lnTo>
                  <a:cubicBezTo>
                    <a:pt x="67293" y="183164"/>
                    <a:pt x="43999" y="173515"/>
                    <a:pt x="26824" y="156340"/>
                  </a:cubicBezTo>
                  <a:cubicBezTo>
                    <a:pt x="9649" y="139165"/>
                    <a:pt x="0" y="115871"/>
                    <a:pt x="0" y="91582"/>
                  </a:cubicBezTo>
                  <a:lnTo>
                    <a:pt x="0" y="91582"/>
                  </a:lnTo>
                  <a:cubicBezTo>
                    <a:pt x="0" y="67293"/>
                    <a:pt x="9649" y="43999"/>
                    <a:pt x="26824" y="26824"/>
                  </a:cubicBezTo>
                  <a:cubicBezTo>
                    <a:pt x="43999" y="9649"/>
                    <a:pt x="67293" y="0"/>
                    <a:pt x="91582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4099" y="3796021"/>
            <a:ext cx="875905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796" y="3858569"/>
            <a:ext cx="600137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Calendar &amp; voice notes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821555"/>
            <a:ext cx="7237406" cy="1259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cheduled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even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and m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ting con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x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 Personal reminders and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commitment references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6061710"/>
            <a:ext cx="1106703" cy="850487"/>
            <a:chOff x="0" y="0"/>
            <a:chExt cx="238343" cy="1831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8343" cy="183164"/>
            </a:xfrm>
            <a:custGeom>
              <a:avLst/>
              <a:gdLst/>
              <a:ahLst/>
              <a:cxnLst/>
              <a:rect r="r" b="b" t="t" l="l"/>
              <a:pathLst>
                <a:path h="183164" w="238343">
                  <a:moveTo>
                    <a:pt x="91582" y="0"/>
                  </a:moveTo>
                  <a:lnTo>
                    <a:pt x="146761" y="0"/>
                  </a:lnTo>
                  <a:cubicBezTo>
                    <a:pt x="171050" y="0"/>
                    <a:pt x="194345" y="9649"/>
                    <a:pt x="211519" y="26824"/>
                  </a:cubicBezTo>
                  <a:cubicBezTo>
                    <a:pt x="228694" y="43999"/>
                    <a:pt x="238343" y="67293"/>
                    <a:pt x="238343" y="91582"/>
                  </a:cubicBezTo>
                  <a:lnTo>
                    <a:pt x="238343" y="91582"/>
                  </a:lnTo>
                  <a:cubicBezTo>
                    <a:pt x="238343" y="115871"/>
                    <a:pt x="228694" y="139165"/>
                    <a:pt x="211519" y="156340"/>
                  </a:cubicBezTo>
                  <a:cubicBezTo>
                    <a:pt x="194345" y="173515"/>
                    <a:pt x="171050" y="183164"/>
                    <a:pt x="146761" y="183164"/>
                  </a:cubicBezTo>
                  <a:lnTo>
                    <a:pt x="91582" y="183164"/>
                  </a:lnTo>
                  <a:cubicBezTo>
                    <a:pt x="67293" y="183164"/>
                    <a:pt x="43999" y="173515"/>
                    <a:pt x="26824" y="156340"/>
                  </a:cubicBezTo>
                  <a:cubicBezTo>
                    <a:pt x="9649" y="139165"/>
                    <a:pt x="0" y="115871"/>
                    <a:pt x="0" y="91582"/>
                  </a:cubicBezTo>
                  <a:lnTo>
                    <a:pt x="0" y="91582"/>
                  </a:lnTo>
                  <a:cubicBezTo>
                    <a:pt x="0" y="67293"/>
                    <a:pt x="9649" y="43999"/>
                    <a:pt x="26824" y="26824"/>
                  </a:cubicBezTo>
                  <a:cubicBezTo>
                    <a:pt x="43999" y="9649"/>
                    <a:pt x="67293" y="0"/>
                    <a:pt x="91582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44099" y="6245851"/>
            <a:ext cx="875905" cy="50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600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86796" y="6337935"/>
            <a:ext cx="6001371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Key ass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mpt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</a:t>
            </a:r>
            <a:r>
              <a:rPr lang="en-US" b="true" sz="2799" strike="noStrike" u="none">
                <a:solidFill>
                  <a:srgbClr val="053F26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7271385"/>
            <a:ext cx="9520993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• Only th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suppli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d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Ass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g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m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ent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1 d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ta pack is used.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• Repeated me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s of th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sam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ct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ar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 co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nsol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da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d 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ne no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malized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c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ion.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•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Owners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h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ip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is not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infe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r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ed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when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the s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u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rce data does not estab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li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sh it.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• Sc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nario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dat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e/time controls whether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a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n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item is u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pc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oming, due, or overdue</a:t>
            </a:r>
            <a:r>
              <a:rPr lang="en-US" sz="1800" strike="noStrike" u="none">
                <a:solidFill>
                  <a:srgbClr val="053F26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2171" y="603873"/>
            <a:ext cx="13244952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Architecture</a:t>
            </a: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 &amp; Process 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2418" y="2853239"/>
            <a:ext cx="3280879" cy="2019633"/>
            <a:chOff x="0" y="0"/>
            <a:chExt cx="4046842" cy="24911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6855" cy="2491105"/>
            </a:xfrm>
            <a:custGeom>
              <a:avLst/>
              <a:gdLst/>
              <a:ahLst/>
              <a:cxnLst/>
              <a:rect r="r" b="b" t="t" l="l"/>
              <a:pathLst>
                <a:path h="2491105" w="4046855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3631692" y="0"/>
                  </a:lnTo>
                  <a:cubicBezTo>
                    <a:pt x="3861054" y="0"/>
                    <a:pt x="4046855" y="185928"/>
                    <a:pt x="4046855" y="415163"/>
                  </a:cubicBezTo>
                  <a:lnTo>
                    <a:pt x="4046855" y="2075942"/>
                  </a:lnTo>
                  <a:cubicBezTo>
                    <a:pt x="4046855" y="2305304"/>
                    <a:pt x="3860927" y="2491105"/>
                    <a:pt x="3631692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EEF2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233985" y="3177992"/>
            <a:ext cx="2969978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WORKPLACE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2743" y="3979244"/>
            <a:ext cx="2710592" cy="5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Emails • Meeting</a:t>
            </a:r>
          </a:p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Calendar • Voice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936143" y="2853239"/>
            <a:ext cx="3280879" cy="2019633"/>
            <a:chOff x="0" y="0"/>
            <a:chExt cx="4046842" cy="24911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6855" cy="2491105"/>
            </a:xfrm>
            <a:custGeom>
              <a:avLst/>
              <a:gdLst/>
              <a:ahLst/>
              <a:cxnLst/>
              <a:rect r="r" b="b" t="t" l="l"/>
              <a:pathLst>
                <a:path h="2491105" w="4046855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3631692" y="0"/>
                  </a:lnTo>
                  <a:cubicBezTo>
                    <a:pt x="3861054" y="0"/>
                    <a:pt x="4046855" y="185928"/>
                    <a:pt x="4046855" y="415163"/>
                  </a:cubicBezTo>
                  <a:lnTo>
                    <a:pt x="4046855" y="2075942"/>
                  </a:lnTo>
                  <a:cubicBezTo>
                    <a:pt x="4046855" y="2305304"/>
                    <a:pt x="3860927" y="2491105"/>
                    <a:pt x="3631692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F5F3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221287" y="3177992"/>
            <a:ext cx="2710592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NORMALIZATION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21287" y="3979244"/>
            <a:ext cx="2710592" cy="5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Structured source</a:t>
            </a:r>
          </a:p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records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19869" y="2853239"/>
            <a:ext cx="3280879" cy="2019633"/>
            <a:chOff x="0" y="0"/>
            <a:chExt cx="4046842" cy="24911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6855" cy="2491105"/>
            </a:xfrm>
            <a:custGeom>
              <a:avLst/>
              <a:gdLst/>
              <a:ahLst/>
              <a:cxnLst/>
              <a:rect r="r" b="b" t="t" l="l"/>
              <a:pathLst>
                <a:path h="2491105" w="4046855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3631692" y="0"/>
                  </a:lnTo>
                  <a:cubicBezTo>
                    <a:pt x="3861054" y="0"/>
                    <a:pt x="4046855" y="185928"/>
                    <a:pt x="4046855" y="415163"/>
                  </a:cubicBezTo>
                  <a:lnTo>
                    <a:pt x="4046855" y="2075942"/>
                  </a:lnTo>
                  <a:cubicBezTo>
                    <a:pt x="4046855" y="2305304"/>
                    <a:pt x="3860927" y="2491105"/>
                    <a:pt x="3631692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EFF8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005022" y="2982364"/>
            <a:ext cx="2948670" cy="78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38BDF8"/>
                </a:solidFill>
                <a:latin typeface="Aptos Bold"/>
                <a:ea typeface="Aptos Bold"/>
                <a:cs typeface="Aptos Bold"/>
                <a:sym typeface="Aptos Bold"/>
              </a:rPr>
              <a:t>COMMITMENT</a:t>
            </a:r>
          </a:p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38BDF8"/>
                </a:solidFill>
                <a:latin typeface="Aptos Bold"/>
                <a:ea typeface="Aptos Bold"/>
                <a:cs typeface="Aptos Bold"/>
                <a:sym typeface="Aptos Bold"/>
              </a:rPr>
              <a:t>EXTRACTION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05022" y="4106240"/>
            <a:ext cx="2710592" cy="5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Identify action,</a:t>
            </a:r>
          </a:p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owner, deadline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503594" y="2853239"/>
            <a:ext cx="3280879" cy="2019633"/>
            <a:chOff x="0" y="0"/>
            <a:chExt cx="4046842" cy="24911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46855" cy="2491105"/>
            </a:xfrm>
            <a:custGeom>
              <a:avLst/>
              <a:gdLst/>
              <a:ahLst/>
              <a:cxnLst/>
              <a:rect r="r" b="b" t="t" l="l"/>
              <a:pathLst>
                <a:path h="2491105" w="4046855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3631692" y="0"/>
                  </a:lnTo>
                  <a:cubicBezTo>
                    <a:pt x="3861054" y="0"/>
                    <a:pt x="4046855" y="185928"/>
                    <a:pt x="4046855" y="415163"/>
                  </a:cubicBezTo>
                  <a:lnTo>
                    <a:pt x="4046855" y="2075942"/>
                  </a:lnTo>
                  <a:cubicBezTo>
                    <a:pt x="4046855" y="2305304"/>
                    <a:pt x="3860927" y="2491105"/>
                    <a:pt x="3631692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FFFBEB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1788737" y="3177992"/>
            <a:ext cx="2710592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DEDUPLICATION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88737" y="3979244"/>
            <a:ext cx="2710592" cy="5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Merge repeated</a:t>
            </a:r>
          </a:p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mentions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287329" y="2853239"/>
            <a:ext cx="2848252" cy="2019633"/>
            <a:chOff x="0" y="0"/>
            <a:chExt cx="3513214" cy="24911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13239" cy="2491105"/>
            </a:xfrm>
            <a:custGeom>
              <a:avLst/>
              <a:gdLst/>
              <a:ahLst/>
              <a:cxnLst/>
              <a:rect r="r" b="b" t="t" l="l"/>
              <a:pathLst>
                <a:path h="2491105" w="3513239">
                  <a:moveTo>
                    <a:pt x="0" y="415163"/>
                  </a:moveTo>
                  <a:cubicBezTo>
                    <a:pt x="0" y="185928"/>
                    <a:pt x="202655" y="0"/>
                    <a:pt x="452513" y="0"/>
                  </a:cubicBezTo>
                  <a:lnTo>
                    <a:pt x="3060728" y="0"/>
                  </a:lnTo>
                  <a:cubicBezTo>
                    <a:pt x="3310725" y="0"/>
                    <a:pt x="3513239" y="185928"/>
                    <a:pt x="3513239" y="415163"/>
                  </a:cubicBezTo>
                  <a:lnTo>
                    <a:pt x="3513239" y="2075942"/>
                  </a:lnTo>
                  <a:cubicBezTo>
                    <a:pt x="3513239" y="2305304"/>
                    <a:pt x="3310587" y="2491105"/>
                    <a:pt x="3060728" y="2491105"/>
                  </a:cubicBezTo>
                  <a:lnTo>
                    <a:pt x="452513" y="2491105"/>
                  </a:lnTo>
                  <a:cubicBezTo>
                    <a:pt x="202655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F0FDF4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5304710" y="3177992"/>
            <a:ext cx="2830872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22C55E"/>
                </a:solidFill>
                <a:latin typeface="Aptos Bold"/>
                <a:ea typeface="Aptos Bold"/>
                <a:cs typeface="Aptos Bold"/>
                <a:sym typeface="Aptos Bold"/>
              </a:rPr>
              <a:t>CLASSIFICATION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572473" y="3979244"/>
            <a:ext cx="2042872" cy="5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My Action • Waiting</a:t>
            </a:r>
          </a:p>
          <a:p>
            <a:pPr algn="ctr">
              <a:lnSpc>
                <a:spcPts val="1849"/>
              </a:lnSpc>
            </a:pPr>
            <a:r>
              <a:rPr lang="en-US" sz="154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• Unclear Ownership</a:t>
            </a:r>
          </a:p>
        </p:txBody>
      </p:sp>
      <p:sp>
        <p:nvSpPr>
          <p:cNvPr name="AutoShape 23" id="23"/>
          <p:cNvSpPr/>
          <p:nvPr/>
        </p:nvSpPr>
        <p:spPr>
          <a:xfrm>
            <a:off x="3407540" y="3838120"/>
            <a:ext cx="509850" cy="35035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7191265" y="3838120"/>
            <a:ext cx="509850" cy="35035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0974990" y="3838120"/>
            <a:ext cx="509850" cy="35035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4758715" y="3838120"/>
            <a:ext cx="509850" cy="35035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9491171" y="4891631"/>
            <a:ext cx="35032" cy="1222081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5716719" y="6087950"/>
            <a:ext cx="7583935" cy="1722876"/>
            <a:chOff x="0" y="0"/>
            <a:chExt cx="9354502" cy="21251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54566" cy="2125091"/>
            </a:xfrm>
            <a:custGeom>
              <a:avLst/>
              <a:gdLst/>
              <a:ahLst/>
              <a:cxnLst/>
              <a:rect r="r" b="b" t="t" l="l"/>
              <a:pathLst>
                <a:path h="2125091" w="9354566">
                  <a:moveTo>
                    <a:pt x="0" y="354203"/>
                  </a:moveTo>
                  <a:cubicBezTo>
                    <a:pt x="0" y="158623"/>
                    <a:pt x="158623" y="0"/>
                    <a:pt x="354203" y="0"/>
                  </a:cubicBezTo>
                  <a:lnTo>
                    <a:pt x="9000363" y="0"/>
                  </a:lnTo>
                  <a:cubicBezTo>
                    <a:pt x="9195943" y="0"/>
                    <a:pt x="9354566" y="158623"/>
                    <a:pt x="9354566" y="354203"/>
                  </a:cubicBezTo>
                  <a:lnTo>
                    <a:pt x="9354566" y="1770888"/>
                  </a:lnTo>
                  <a:cubicBezTo>
                    <a:pt x="9354566" y="1966468"/>
                    <a:pt x="9195943" y="2125091"/>
                    <a:pt x="9000363" y="2125091"/>
                  </a:cubicBezTo>
                  <a:lnTo>
                    <a:pt x="354203" y="2125091"/>
                  </a:lnTo>
                  <a:cubicBezTo>
                    <a:pt x="158623" y="2125091"/>
                    <a:pt x="0" y="1966468"/>
                    <a:pt x="0" y="1770888"/>
                  </a:cubicBezTo>
                  <a:close/>
                </a:path>
              </a:pathLst>
            </a:custGeom>
            <a:solidFill>
              <a:srgbClr val="172554"/>
            </a:solidFill>
            <a:ln w="15252" cap="sq">
              <a:solidFill>
                <a:srgbClr val="17255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7370430" y="6516571"/>
            <a:ext cx="4276533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DEADLINE + STATUS ENGINE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268957" y="7006228"/>
            <a:ext cx="6479480" cy="27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7"/>
              </a:lnSpc>
            </a:pPr>
            <a:r>
              <a:rPr lang="en-US" sz="1622">
                <a:solidFill>
                  <a:srgbClr val="CBD5E1"/>
                </a:solidFill>
                <a:latin typeface="Aptos"/>
                <a:ea typeface="Aptos"/>
                <a:cs typeface="Aptos"/>
                <a:sym typeface="Aptos"/>
              </a:rPr>
              <a:t>Scenario-aware status • due dates • overdue detection</a:t>
            </a:r>
          </a:p>
        </p:txBody>
      </p:sp>
      <p:sp>
        <p:nvSpPr>
          <p:cNvPr name="AutoShape 32" id="32"/>
          <p:cNvSpPr/>
          <p:nvPr/>
        </p:nvSpPr>
        <p:spPr>
          <a:xfrm>
            <a:off x="13274905" y="6924454"/>
            <a:ext cx="925327" cy="3503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4174463" y="6043439"/>
            <a:ext cx="3355073" cy="1797060"/>
            <a:chOff x="0" y="0"/>
            <a:chExt cx="4138358" cy="22166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38295" cy="2216658"/>
            </a:xfrm>
            <a:custGeom>
              <a:avLst/>
              <a:gdLst/>
              <a:ahLst/>
              <a:cxnLst/>
              <a:rect r="r" b="b" t="t" l="l"/>
              <a:pathLst>
                <a:path h="2216658" w="4138295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3768852" y="0"/>
                  </a:lnTo>
                  <a:cubicBezTo>
                    <a:pt x="3972941" y="0"/>
                    <a:pt x="4138295" y="165354"/>
                    <a:pt x="4138295" y="369443"/>
                  </a:cubicBezTo>
                  <a:lnTo>
                    <a:pt x="4138295" y="1847215"/>
                  </a:lnTo>
                  <a:cubicBezTo>
                    <a:pt x="4138295" y="2051304"/>
                    <a:pt x="3972941" y="2216658"/>
                    <a:pt x="3768852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499329" y="6320943"/>
            <a:ext cx="2852988" cy="39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3"/>
              </a:lnSpc>
            </a:pPr>
            <a:r>
              <a:rPr lang="en-US" sz="2594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DAILY BRIEF + Q&amp;A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578311" y="7006228"/>
            <a:ext cx="2547366" cy="27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2"/>
              </a:lnSpc>
            </a:pPr>
            <a:r>
              <a:rPr lang="en-US" sz="146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Grounded answers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60716" y="694323"/>
            <a:ext cx="11640780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Core Agent Logic</a:t>
            </a:r>
          </a:p>
        </p:txBody>
      </p:sp>
      <p:sp>
        <p:nvSpPr>
          <p:cNvPr name="Freeform 3" id="3"/>
          <p:cNvSpPr/>
          <p:nvPr/>
        </p:nvSpPr>
        <p:spPr>
          <a:xfrm>
            <a:off x="2486467" y="1856923"/>
            <a:ext cx="3344656" cy="1674060"/>
          </a:xfrm>
          <a:custGeom>
            <a:avLst/>
            <a:gdLst/>
            <a:ahLst/>
            <a:cxnLst/>
            <a:rect r="r" b="b" t="t" l="l"/>
            <a:pathLst>
              <a:path h="1674060" w="3344656">
                <a:moveTo>
                  <a:pt x="0" y="606582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1704357" y="0"/>
                </a:lnTo>
                <a:cubicBezTo>
                  <a:pt x="1764985" y="0"/>
                  <a:pt x="1823130" y="24084"/>
                  <a:pt x="1866001" y="66955"/>
                </a:cubicBezTo>
                <a:cubicBezTo>
                  <a:pt x="1908872" y="109826"/>
                  <a:pt x="1932957" y="167971"/>
                  <a:pt x="1932957" y="228600"/>
                </a:cubicBezTo>
                <a:lnTo>
                  <a:pt x="1932957" y="497142"/>
                </a:lnTo>
                <a:cubicBezTo>
                  <a:pt x="1932957" y="623395"/>
                  <a:pt x="2035304" y="725742"/>
                  <a:pt x="2161557" y="725742"/>
                </a:cubicBezTo>
                <a:lnTo>
                  <a:pt x="3116056" y="725742"/>
                </a:lnTo>
                <a:cubicBezTo>
                  <a:pt x="3176685" y="725742"/>
                  <a:pt x="3234830" y="749827"/>
                  <a:pt x="3277701" y="792698"/>
                </a:cubicBezTo>
                <a:cubicBezTo>
                  <a:pt x="3320572" y="835569"/>
                  <a:pt x="3344656" y="893714"/>
                  <a:pt x="3344656" y="954342"/>
                </a:cubicBezTo>
                <a:lnTo>
                  <a:pt x="3344656" y="1674060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>
            <a:off x="5831123" y="2841298"/>
            <a:ext cx="3344656" cy="1362311"/>
          </a:xfrm>
          <a:custGeom>
            <a:avLst/>
            <a:gdLst/>
            <a:ahLst/>
            <a:cxnLst/>
            <a:rect r="r" b="b" t="t" l="l"/>
            <a:pathLst>
              <a:path h="1362311" w="3344656">
                <a:moveTo>
                  <a:pt x="3344656" y="1362310"/>
                </a:moveTo>
                <a:lnTo>
                  <a:pt x="3344656" y="228600"/>
                </a:lnTo>
                <a:cubicBezTo>
                  <a:pt x="3344656" y="102347"/>
                  <a:pt x="3242308" y="0"/>
                  <a:pt x="3116056" y="0"/>
                </a:cubicBezTo>
                <a:lnTo>
                  <a:pt x="228600" y="0"/>
                </a:lnTo>
                <a:cubicBezTo>
                  <a:pt x="167972" y="0"/>
                  <a:pt x="109826" y="24084"/>
                  <a:pt x="66955" y="66955"/>
                </a:cubicBezTo>
                <a:cubicBezTo>
                  <a:pt x="24085" y="109826"/>
                  <a:pt x="0" y="167971"/>
                  <a:pt x="0" y="228600"/>
                </a:cubicBezTo>
                <a:lnTo>
                  <a:pt x="0" y="689685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>
            <a:off x="9175779" y="2841298"/>
            <a:ext cx="3344656" cy="1362311"/>
          </a:xfrm>
          <a:custGeom>
            <a:avLst/>
            <a:gdLst/>
            <a:ahLst/>
            <a:cxnLst/>
            <a:rect r="r" b="b" t="t" l="l"/>
            <a:pathLst>
              <a:path h="1362311" w="3344656">
                <a:moveTo>
                  <a:pt x="0" y="1362310"/>
                </a:moveTo>
                <a:lnTo>
                  <a:pt x="0" y="228600"/>
                </a:lnTo>
                <a:cubicBezTo>
                  <a:pt x="0" y="167971"/>
                  <a:pt x="24085" y="109826"/>
                  <a:pt x="66956" y="66955"/>
                </a:cubicBezTo>
                <a:cubicBezTo>
                  <a:pt x="109826" y="24084"/>
                  <a:pt x="167972" y="0"/>
                  <a:pt x="228600" y="0"/>
                </a:cubicBezTo>
                <a:lnTo>
                  <a:pt x="3116057" y="0"/>
                </a:lnTo>
                <a:cubicBezTo>
                  <a:pt x="3242309" y="0"/>
                  <a:pt x="3344657" y="102347"/>
                  <a:pt x="3344657" y="228600"/>
                </a:cubicBezTo>
                <a:lnTo>
                  <a:pt x="3344657" y="689685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>
            <a:off x="12520436" y="1856923"/>
            <a:ext cx="3344656" cy="1674060"/>
          </a:xfrm>
          <a:custGeom>
            <a:avLst/>
            <a:gdLst/>
            <a:ahLst/>
            <a:cxnLst/>
            <a:rect r="r" b="b" t="t" l="l"/>
            <a:pathLst>
              <a:path h="1674060" w="3344656">
                <a:moveTo>
                  <a:pt x="3344656" y="606582"/>
                </a:moveTo>
                <a:lnTo>
                  <a:pt x="3344656" y="228600"/>
                </a:lnTo>
                <a:cubicBezTo>
                  <a:pt x="3344656" y="167971"/>
                  <a:pt x="3320572" y="109826"/>
                  <a:pt x="3277700" y="66955"/>
                </a:cubicBezTo>
                <a:cubicBezTo>
                  <a:pt x="3234830" y="24084"/>
                  <a:pt x="3176685" y="0"/>
                  <a:pt x="3116056" y="0"/>
                </a:cubicBezTo>
                <a:lnTo>
                  <a:pt x="1562404" y="0"/>
                </a:lnTo>
                <a:cubicBezTo>
                  <a:pt x="1436151" y="0"/>
                  <a:pt x="1333804" y="102347"/>
                  <a:pt x="1333804" y="228600"/>
                </a:cubicBezTo>
                <a:lnTo>
                  <a:pt x="1333804" y="497142"/>
                </a:lnTo>
                <a:cubicBezTo>
                  <a:pt x="1333804" y="623395"/>
                  <a:pt x="1231456" y="725742"/>
                  <a:pt x="1105204" y="725742"/>
                </a:cubicBezTo>
                <a:lnTo>
                  <a:pt x="228600" y="725742"/>
                </a:lnTo>
                <a:cubicBezTo>
                  <a:pt x="167971" y="725742"/>
                  <a:pt x="109826" y="749827"/>
                  <a:pt x="66955" y="792698"/>
                </a:cubicBezTo>
                <a:cubicBezTo>
                  <a:pt x="24084" y="835569"/>
                  <a:pt x="0" y="893714"/>
                  <a:pt x="0" y="954342"/>
                </a:cubicBezTo>
                <a:lnTo>
                  <a:pt x="0" y="1674060"/>
                </a:lnTo>
              </a:path>
            </a:pathLst>
          </a:custGeom>
          <a:ln cap="rnd" w="28575">
            <a:solidFill>
              <a:srgbClr val="C7D2D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2153670" y="5766196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532296" y="5766196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5498327" y="6737678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2187639" y="6737678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4" y="0"/>
                </a:lnTo>
                <a:lnTo>
                  <a:pt x="665594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37359" y="3111306"/>
            <a:ext cx="2698215" cy="3861701"/>
            <a:chOff x="0" y="0"/>
            <a:chExt cx="698680" cy="9999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16059" y="2161876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482016" y="4082788"/>
            <a:ext cx="2698215" cy="3861701"/>
            <a:chOff x="0" y="0"/>
            <a:chExt cx="698680" cy="9999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360716" y="3133358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5400000">
            <a:off x="3548062" y="1753781"/>
            <a:ext cx="238125" cy="208359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4692312" y="1753781"/>
            <a:ext cx="238125" cy="208359"/>
            <a:chOff x="0" y="0"/>
            <a:chExt cx="812800" cy="711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5400000">
            <a:off x="4926282" y="2478388"/>
            <a:ext cx="238125" cy="208359"/>
            <a:chOff x="0" y="0"/>
            <a:chExt cx="812800" cy="711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13115877" y="2478388"/>
            <a:ext cx="238125" cy="208359"/>
            <a:chOff x="0" y="0"/>
            <a:chExt cx="812800" cy="711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5400000">
            <a:off x="7450635" y="2736693"/>
            <a:ext cx="238125" cy="208359"/>
            <a:chOff x="0" y="0"/>
            <a:chExt cx="812800" cy="711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5400000">
            <a:off x="10694850" y="2736693"/>
            <a:ext cx="238125" cy="208359"/>
            <a:chOff x="0" y="0"/>
            <a:chExt cx="812800" cy="711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8223" y="94337"/>
              <a:ext cx="676354" cy="616863"/>
            </a:xfrm>
            <a:custGeom>
              <a:avLst/>
              <a:gdLst/>
              <a:ahLst/>
              <a:cxnLst/>
              <a:rect r="r" b="b" t="t" l="l"/>
              <a:pathLst>
                <a:path h="616863" w="676354">
                  <a:moveTo>
                    <a:pt x="418829" y="46805"/>
                  </a:moveTo>
                  <a:lnTo>
                    <a:pt x="663925" y="475721"/>
                  </a:lnTo>
                  <a:cubicBezTo>
                    <a:pt x="680609" y="504919"/>
                    <a:pt x="680489" y="540791"/>
                    <a:pt x="663610" y="569876"/>
                  </a:cubicBezTo>
                  <a:cubicBezTo>
                    <a:pt x="646731" y="598962"/>
                    <a:pt x="615645" y="616863"/>
                    <a:pt x="582017" y="616863"/>
                  </a:cubicBezTo>
                  <a:lnTo>
                    <a:pt x="94337" y="616863"/>
                  </a:lnTo>
                  <a:cubicBezTo>
                    <a:pt x="60709" y="616863"/>
                    <a:pt x="29623" y="598962"/>
                    <a:pt x="12744" y="569876"/>
                  </a:cubicBezTo>
                  <a:cubicBezTo>
                    <a:pt x="-4135" y="540791"/>
                    <a:pt x="-4255" y="504919"/>
                    <a:pt x="12429" y="475721"/>
                  </a:cubicBezTo>
                  <a:lnTo>
                    <a:pt x="257525" y="46805"/>
                  </a:lnTo>
                  <a:cubicBezTo>
                    <a:pt x="274063" y="17862"/>
                    <a:pt x="304842" y="0"/>
                    <a:pt x="338177" y="0"/>
                  </a:cubicBezTo>
                  <a:cubicBezTo>
                    <a:pt x="371512" y="0"/>
                    <a:pt x="402291" y="17862"/>
                    <a:pt x="418829" y="46805"/>
                  </a:cubicBezTo>
                  <a:close/>
                </a:path>
              </a:pathLst>
            </a:custGeom>
            <a:solidFill>
              <a:srgbClr val="C7D2D9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171328" y="4082788"/>
            <a:ext cx="2698215" cy="3861701"/>
            <a:chOff x="0" y="0"/>
            <a:chExt cx="698680" cy="9999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1050028" y="3133358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6" y="0"/>
                </a:lnTo>
                <a:lnTo>
                  <a:pt x="2940816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4515985" y="3111306"/>
            <a:ext cx="2698215" cy="3861701"/>
            <a:chOff x="0" y="0"/>
            <a:chExt cx="698680" cy="9999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4394685" y="2161876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266557" y="2368255"/>
            <a:ext cx="439820" cy="428625"/>
          </a:xfrm>
          <a:custGeom>
            <a:avLst/>
            <a:gdLst/>
            <a:ahLst/>
            <a:cxnLst/>
            <a:rect r="r" b="b" t="t" l="l"/>
            <a:pathLst>
              <a:path h="428625" w="439820">
                <a:moveTo>
                  <a:pt x="0" y="0"/>
                </a:moveTo>
                <a:lnTo>
                  <a:pt x="439820" y="0"/>
                </a:lnTo>
                <a:lnTo>
                  <a:pt x="43982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5658115" y="3379390"/>
            <a:ext cx="346017" cy="428625"/>
          </a:xfrm>
          <a:custGeom>
            <a:avLst/>
            <a:gdLst/>
            <a:ahLst/>
            <a:cxnLst/>
            <a:rect r="r" b="b" t="t" l="l"/>
            <a:pathLst>
              <a:path h="428625" w="346017">
                <a:moveTo>
                  <a:pt x="0" y="0"/>
                </a:moveTo>
                <a:lnTo>
                  <a:pt x="346017" y="0"/>
                </a:lnTo>
                <a:lnTo>
                  <a:pt x="346017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7" id="47"/>
          <p:cNvSpPr/>
          <p:nvPr/>
        </p:nvSpPr>
        <p:spPr>
          <a:xfrm flipH="false" flipV="false" rot="0">
            <a:off x="12312748" y="3379390"/>
            <a:ext cx="415377" cy="428625"/>
          </a:xfrm>
          <a:custGeom>
            <a:avLst/>
            <a:gdLst/>
            <a:ahLst/>
            <a:cxnLst/>
            <a:rect r="r" b="b" t="t" l="l"/>
            <a:pathLst>
              <a:path h="428625" w="415377">
                <a:moveTo>
                  <a:pt x="0" y="0"/>
                </a:moveTo>
                <a:lnTo>
                  <a:pt x="415376" y="0"/>
                </a:lnTo>
                <a:lnTo>
                  <a:pt x="41537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8" id="48"/>
          <p:cNvSpPr txBox="true"/>
          <p:nvPr/>
        </p:nvSpPr>
        <p:spPr>
          <a:xfrm rot="0">
            <a:off x="1318526" y="3961376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Awareness Stage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61894" y="6169130"/>
            <a:ext cx="2249146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56E11B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663182" y="5391963"/>
            <a:ext cx="2335882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Repres</a:t>
            </a: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ent each underlying action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with owner, deadline and evidence.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51" id="51"/>
          <p:cNvSpPr txBox="true"/>
          <p:nvPr/>
        </p:nvSpPr>
        <p:spPr>
          <a:xfrm rot="0">
            <a:off x="4706550" y="7144590"/>
            <a:ext cx="224914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C267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8526" y="4420481"/>
            <a:ext cx="233588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Det</a:t>
            </a: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ect explicit commitments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made by the executive.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4663182" y="4932858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Normalize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52495" y="4932858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Classify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52495" y="5391963"/>
            <a:ext cx="2335882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Se</a:t>
            </a: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parate My Actions,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Waiting and Unclear Ownership.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56" id="56"/>
          <p:cNvSpPr txBox="true"/>
          <p:nvPr/>
        </p:nvSpPr>
        <p:spPr>
          <a:xfrm rot="0">
            <a:off x="14697151" y="3961376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Evaluate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97151" y="4420481"/>
            <a:ext cx="2335882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ompare scenario time with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deadlines and known status.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Freeform 58" id="58"/>
          <p:cNvSpPr/>
          <p:nvPr/>
        </p:nvSpPr>
        <p:spPr>
          <a:xfrm flipH="false" flipV="false" rot="5400000">
            <a:off x="8842983" y="7956870"/>
            <a:ext cx="665593" cy="2698215"/>
          </a:xfrm>
          <a:custGeom>
            <a:avLst/>
            <a:gdLst/>
            <a:ahLst/>
            <a:cxnLst/>
            <a:rect r="r" b="b" t="t" l="l"/>
            <a:pathLst>
              <a:path h="2698215" w="665593">
                <a:moveTo>
                  <a:pt x="0" y="0"/>
                </a:moveTo>
                <a:lnTo>
                  <a:pt x="665593" y="0"/>
                </a:lnTo>
                <a:lnTo>
                  <a:pt x="665593" y="2698215"/>
                </a:lnTo>
                <a:lnTo>
                  <a:pt x="0" y="2698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-77632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7826672" y="4796856"/>
            <a:ext cx="2698215" cy="3861701"/>
            <a:chOff x="0" y="0"/>
            <a:chExt cx="698680" cy="99995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98680" cy="999955"/>
            </a:xfrm>
            <a:custGeom>
              <a:avLst/>
              <a:gdLst/>
              <a:ahLst/>
              <a:cxnLst/>
              <a:rect r="r" b="b" t="t" l="l"/>
              <a:pathLst>
                <a:path h="999955" w="698680">
                  <a:moveTo>
                    <a:pt x="65993" y="0"/>
                  </a:moveTo>
                  <a:lnTo>
                    <a:pt x="632687" y="0"/>
                  </a:lnTo>
                  <a:cubicBezTo>
                    <a:pt x="650190" y="0"/>
                    <a:pt x="666975" y="6953"/>
                    <a:pt x="679351" y="19329"/>
                  </a:cubicBezTo>
                  <a:cubicBezTo>
                    <a:pt x="691727" y="31705"/>
                    <a:pt x="698680" y="48491"/>
                    <a:pt x="698680" y="65993"/>
                  </a:cubicBezTo>
                  <a:lnTo>
                    <a:pt x="698680" y="933962"/>
                  </a:lnTo>
                  <a:cubicBezTo>
                    <a:pt x="698680" y="951464"/>
                    <a:pt x="691727" y="968250"/>
                    <a:pt x="679351" y="980626"/>
                  </a:cubicBezTo>
                  <a:cubicBezTo>
                    <a:pt x="666975" y="993002"/>
                    <a:pt x="650190" y="999955"/>
                    <a:pt x="632687" y="999955"/>
                  </a:cubicBezTo>
                  <a:lnTo>
                    <a:pt x="65993" y="999955"/>
                  </a:lnTo>
                  <a:cubicBezTo>
                    <a:pt x="48491" y="999955"/>
                    <a:pt x="31705" y="993002"/>
                    <a:pt x="19329" y="980626"/>
                  </a:cubicBezTo>
                  <a:cubicBezTo>
                    <a:pt x="6953" y="968250"/>
                    <a:pt x="0" y="951464"/>
                    <a:pt x="0" y="933962"/>
                  </a:cubicBezTo>
                  <a:lnTo>
                    <a:pt x="0" y="65993"/>
                  </a:lnTo>
                  <a:cubicBezTo>
                    <a:pt x="0" y="48491"/>
                    <a:pt x="6953" y="31705"/>
                    <a:pt x="19329" y="19329"/>
                  </a:cubicBezTo>
                  <a:cubicBezTo>
                    <a:pt x="31705" y="6953"/>
                    <a:pt x="48491" y="0"/>
                    <a:pt x="6599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98680" cy="1047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7705372" y="3847426"/>
            <a:ext cx="2940815" cy="1879860"/>
          </a:xfrm>
          <a:custGeom>
            <a:avLst/>
            <a:gdLst/>
            <a:ahLst/>
            <a:cxnLst/>
            <a:rect r="r" b="b" t="t" l="l"/>
            <a:pathLst>
              <a:path h="1879860" w="2940815">
                <a:moveTo>
                  <a:pt x="0" y="0"/>
                </a:moveTo>
                <a:lnTo>
                  <a:pt x="2940815" y="0"/>
                </a:lnTo>
                <a:lnTo>
                  <a:pt x="2940815" y="1879860"/>
                </a:lnTo>
                <a:lnTo>
                  <a:pt x="0" y="18798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8960685" y="4082788"/>
            <a:ext cx="430189" cy="428625"/>
          </a:xfrm>
          <a:custGeom>
            <a:avLst/>
            <a:gdLst/>
            <a:ahLst/>
            <a:cxnLst/>
            <a:rect r="r" b="b" t="t" l="l"/>
            <a:pathLst>
              <a:path h="428625" w="430189">
                <a:moveTo>
                  <a:pt x="0" y="0"/>
                </a:moveTo>
                <a:lnTo>
                  <a:pt x="430189" y="0"/>
                </a:lnTo>
                <a:lnTo>
                  <a:pt x="430189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4" id="64"/>
          <p:cNvSpPr txBox="true"/>
          <p:nvPr/>
        </p:nvSpPr>
        <p:spPr>
          <a:xfrm rot="0">
            <a:off x="8007839" y="5646926"/>
            <a:ext cx="23358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Deduplicate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007839" y="6106031"/>
            <a:ext cx="2335882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erge repeated mentions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from different sources.</a:t>
            </a:r>
          </a:p>
          <a:p>
            <a:pPr algn="ctr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8051207" y="7854680"/>
            <a:ext cx="224914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7B8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395863" y="7144590"/>
            <a:ext cx="224914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4259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4740519" y="6169130"/>
            <a:ext cx="2249146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38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971609" y="9154844"/>
            <a:ext cx="16418690" cy="1003573"/>
            <a:chOff x="0" y="0"/>
            <a:chExt cx="21891587" cy="13380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891625" cy="1338072"/>
            </a:xfrm>
            <a:custGeom>
              <a:avLst/>
              <a:gdLst/>
              <a:ahLst/>
              <a:cxnLst/>
              <a:rect r="r" b="b" t="t" l="l"/>
              <a:pathLst>
                <a:path h="1338072" w="21891625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21668612" y="0"/>
                  </a:lnTo>
                  <a:cubicBezTo>
                    <a:pt x="21791802" y="0"/>
                    <a:pt x="21891625" y="99822"/>
                    <a:pt x="21891625" y="223012"/>
                  </a:cubicBezTo>
                  <a:lnTo>
                    <a:pt x="21891625" y="1115060"/>
                  </a:lnTo>
                  <a:cubicBezTo>
                    <a:pt x="21891625" y="1238250"/>
                    <a:pt x="21791802" y="1338072"/>
                    <a:pt x="21668612" y="1338072"/>
                  </a:cubicBezTo>
                  <a:lnTo>
                    <a:pt x="223012" y="1338072"/>
                  </a:lnTo>
                  <a:cubicBezTo>
                    <a:pt x="99822" y="1338072"/>
                    <a:pt x="0" y="1238250"/>
                    <a:pt x="0" y="1115060"/>
                  </a:cubicBezTo>
                  <a:close/>
                </a:path>
              </a:pathLst>
            </a:custGeom>
            <a:solidFill>
              <a:srgbClr val="EEF2FF"/>
            </a:solidFill>
            <a:ln w="15252" cap="sq">
              <a:solidFill>
                <a:srgbClr val="EEF2F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1413836" y="9496458"/>
            <a:ext cx="15534218" cy="292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Grounding rule: the agent uses only supplied evidence and does not invent owners, deadlines or commitments.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10584" y="5143500"/>
            <a:ext cx="19167318" cy="5573263"/>
            <a:chOff x="0" y="0"/>
            <a:chExt cx="5048183" cy="1467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48183" cy="1467855"/>
            </a:xfrm>
            <a:custGeom>
              <a:avLst/>
              <a:gdLst/>
              <a:ahLst/>
              <a:cxnLst/>
              <a:rect r="r" b="b" t="t" l="l"/>
              <a:pathLst>
                <a:path h="1467855" w="5048183">
                  <a:moveTo>
                    <a:pt x="20600" y="0"/>
                  </a:moveTo>
                  <a:lnTo>
                    <a:pt x="5027583" y="0"/>
                  </a:lnTo>
                  <a:cubicBezTo>
                    <a:pt x="5033046" y="0"/>
                    <a:pt x="5038286" y="2170"/>
                    <a:pt x="5042149" y="6033"/>
                  </a:cubicBezTo>
                  <a:cubicBezTo>
                    <a:pt x="5046012" y="9897"/>
                    <a:pt x="5048183" y="15136"/>
                    <a:pt x="5048183" y="20600"/>
                  </a:cubicBezTo>
                  <a:lnTo>
                    <a:pt x="5048183" y="1447256"/>
                  </a:lnTo>
                  <a:cubicBezTo>
                    <a:pt x="5048183" y="1452719"/>
                    <a:pt x="5046012" y="1457959"/>
                    <a:pt x="5042149" y="1461822"/>
                  </a:cubicBezTo>
                  <a:cubicBezTo>
                    <a:pt x="5038286" y="1465685"/>
                    <a:pt x="5033046" y="1467855"/>
                    <a:pt x="5027583" y="1467855"/>
                  </a:cubicBezTo>
                  <a:lnTo>
                    <a:pt x="20600" y="1467855"/>
                  </a:lnTo>
                  <a:cubicBezTo>
                    <a:pt x="15136" y="1467855"/>
                    <a:pt x="9897" y="1465685"/>
                    <a:pt x="6033" y="1461822"/>
                  </a:cubicBezTo>
                  <a:cubicBezTo>
                    <a:pt x="2170" y="1457959"/>
                    <a:pt x="0" y="1452719"/>
                    <a:pt x="0" y="1447256"/>
                  </a:cubicBezTo>
                  <a:lnTo>
                    <a:pt x="0" y="20600"/>
                  </a:lnTo>
                  <a:cubicBezTo>
                    <a:pt x="0" y="15136"/>
                    <a:pt x="2170" y="9897"/>
                    <a:pt x="6033" y="6033"/>
                  </a:cubicBezTo>
                  <a:cubicBezTo>
                    <a:pt x="9897" y="2170"/>
                    <a:pt x="15136" y="0"/>
                    <a:pt x="20600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48183" cy="1505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31677" y="652694"/>
            <a:ext cx="10943742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Action Classification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4615" y="2325919"/>
            <a:ext cx="5203955" cy="6260916"/>
            <a:chOff x="0" y="0"/>
            <a:chExt cx="6938607" cy="8347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38645" cy="8347837"/>
            </a:xfrm>
            <a:custGeom>
              <a:avLst/>
              <a:gdLst/>
              <a:ahLst/>
              <a:cxnLst/>
              <a:rect r="r" b="b" t="t" l="l"/>
              <a:pathLst>
                <a:path h="8347837" w="6938645">
                  <a:moveTo>
                    <a:pt x="0" y="1156462"/>
                  </a:moveTo>
                  <a:cubicBezTo>
                    <a:pt x="0" y="517779"/>
                    <a:pt x="517779" y="0"/>
                    <a:pt x="1156462" y="0"/>
                  </a:cubicBezTo>
                  <a:lnTo>
                    <a:pt x="5782183" y="0"/>
                  </a:lnTo>
                  <a:cubicBezTo>
                    <a:pt x="6420866" y="0"/>
                    <a:pt x="6938645" y="517779"/>
                    <a:pt x="6938645" y="1156462"/>
                  </a:cubicBezTo>
                  <a:lnTo>
                    <a:pt x="6938645" y="7191375"/>
                  </a:lnTo>
                  <a:cubicBezTo>
                    <a:pt x="6938645" y="7830058"/>
                    <a:pt x="6420866" y="8347837"/>
                    <a:pt x="5782183" y="8347837"/>
                  </a:cubicBezTo>
                  <a:lnTo>
                    <a:pt x="1156462" y="8347837"/>
                  </a:lnTo>
                  <a:cubicBezTo>
                    <a:pt x="517779" y="8347837"/>
                    <a:pt x="0" y="7830058"/>
                    <a:pt x="0" y="7191375"/>
                  </a:cubicBezTo>
                  <a:close/>
                </a:path>
              </a:pathLst>
            </a:custGeom>
            <a:solidFill>
              <a:srgbClr val="EEF2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26842" y="2791063"/>
            <a:ext cx="42783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MY ACTIONS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842" y="3399244"/>
            <a:ext cx="42096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Requires action from Arjun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7782" y="4590831"/>
            <a:ext cx="4476436" cy="811406"/>
            <a:chOff x="0" y="0"/>
            <a:chExt cx="5968581" cy="10818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68619" cy="1081913"/>
            </a:xfrm>
            <a:custGeom>
              <a:avLst/>
              <a:gdLst/>
              <a:ahLst/>
              <a:cxnLst/>
              <a:rect r="r" b="b" t="t" l="l"/>
              <a:pathLst>
                <a:path h="1081913" w="5968619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lnTo>
                    <a:pt x="5788279" y="0"/>
                  </a:lnTo>
                  <a:cubicBezTo>
                    <a:pt x="5887847" y="0"/>
                    <a:pt x="5968619" y="80772"/>
                    <a:pt x="5968619" y="180340"/>
                  </a:cubicBezTo>
                  <a:lnTo>
                    <a:pt x="5968619" y="901573"/>
                  </a:lnTo>
                  <a:cubicBezTo>
                    <a:pt x="5968619" y="1001141"/>
                    <a:pt x="5887847" y="1081913"/>
                    <a:pt x="5788279" y="1081913"/>
                  </a:cubicBezTo>
                  <a:lnTo>
                    <a:pt x="180340" y="1081913"/>
                  </a:lnTo>
                  <a:cubicBezTo>
                    <a:pt x="80772" y="1081913"/>
                    <a:pt x="0" y="1001141"/>
                    <a:pt x="0" y="9015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05293" y="4799371"/>
            <a:ext cx="3935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Send updated vendor list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27782" y="5661508"/>
            <a:ext cx="4476436" cy="811406"/>
            <a:chOff x="0" y="0"/>
            <a:chExt cx="5968581" cy="10818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68619" cy="1081913"/>
            </a:xfrm>
            <a:custGeom>
              <a:avLst/>
              <a:gdLst/>
              <a:ahLst/>
              <a:cxnLst/>
              <a:rect r="r" b="b" t="t" l="l"/>
              <a:pathLst>
                <a:path h="1081913" w="5968619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lnTo>
                    <a:pt x="5788279" y="0"/>
                  </a:lnTo>
                  <a:cubicBezTo>
                    <a:pt x="5887847" y="0"/>
                    <a:pt x="5968619" y="80772"/>
                    <a:pt x="5968619" y="180340"/>
                  </a:cubicBezTo>
                  <a:lnTo>
                    <a:pt x="5968619" y="901573"/>
                  </a:lnTo>
                  <a:cubicBezTo>
                    <a:pt x="5968619" y="1001141"/>
                    <a:pt x="5887847" y="1081913"/>
                    <a:pt x="5788279" y="1081913"/>
                  </a:cubicBezTo>
                  <a:lnTo>
                    <a:pt x="180340" y="1081913"/>
                  </a:lnTo>
                  <a:cubicBezTo>
                    <a:pt x="80772" y="1081913"/>
                    <a:pt x="0" y="1001141"/>
                    <a:pt x="0" y="9015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05293" y="5870048"/>
            <a:ext cx="3935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Review July expense variance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27782" y="6732194"/>
            <a:ext cx="4476436" cy="811406"/>
            <a:chOff x="0" y="0"/>
            <a:chExt cx="5968581" cy="10818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68619" cy="1081913"/>
            </a:xfrm>
            <a:custGeom>
              <a:avLst/>
              <a:gdLst/>
              <a:ahLst/>
              <a:cxnLst/>
              <a:rect r="r" b="b" t="t" l="l"/>
              <a:pathLst>
                <a:path h="1081913" w="5968619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lnTo>
                    <a:pt x="5788279" y="0"/>
                  </a:lnTo>
                  <a:cubicBezTo>
                    <a:pt x="5887847" y="0"/>
                    <a:pt x="5968619" y="80772"/>
                    <a:pt x="5968619" y="180340"/>
                  </a:cubicBezTo>
                  <a:lnTo>
                    <a:pt x="5968619" y="901573"/>
                  </a:lnTo>
                  <a:cubicBezTo>
                    <a:pt x="5968619" y="1001141"/>
                    <a:pt x="5887847" y="1081913"/>
                    <a:pt x="5788279" y="1081913"/>
                  </a:cubicBezTo>
                  <a:lnTo>
                    <a:pt x="180340" y="1081913"/>
                  </a:lnTo>
                  <a:cubicBezTo>
                    <a:pt x="80772" y="1081913"/>
                    <a:pt x="0" y="1001141"/>
                    <a:pt x="0" y="9015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05293" y="6940734"/>
            <a:ext cx="3935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Reconfirm / attend Meridian call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40017" y="2325919"/>
            <a:ext cx="5203955" cy="6260916"/>
            <a:chOff x="0" y="0"/>
            <a:chExt cx="6938607" cy="83478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38645" cy="8347837"/>
            </a:xfrm>
            <a:custGeom>
              <a:avLst/>
              <a:gdLst/>
              <a:ahLst/>
              <a:cxnLst/>
              <a:rect r="r" b="b" t="t" l="l"/>
              <a:pathLst>
                <a:path h="8347837" w="6938645">
                  <a:moveTo>
                    <a:pt x="0" y="1156462"/>
                  </a:moveTo>
                  <a:cubicBezTo>
                    <a:pt x="0" y="517779"/>
                    <a:pt x="517779" y="0"/>
                    <a:pt x="1156462" y="0"/>
                  </a:cubicBezTo>
                  <a:lnTo>
                    <a:pt x="5782183" y="0"/>
                  </a:lnTo>
                  <a:cubicBezTo>
                    <a:pt x="6420866" y="0"/>
                    <a:pt x="6938645" y="517779"/>
                    <a:pt x="6938645" y="1156462"/>
                  </a:cubicBezTo>
                  <a:lnTo>
                    <a:pt x="6938645" y="7191375"/>
                  </a:lnTo>
                  <a:cubicBezTo>
                    <a:pt x="6938645" y="7830058"/>
                    <a:pt x="6420866" y="8347837"/>
                    <a:pt x="5782183" y="8347837"/>
                  </a:cubicBezTo>
                  <a:lnTo>
                    <a:pt x="1156462" y="8347837"/>
                  </a:lnTo>
                  <a:cubicBezTo>
                    <a:pt x="517779" y="8347837"/>
                    <a:pt x="0" y="7830058"/>
                    <a:pt x="0" y="7191375"/>
                  </a:cubicBezTo>
                  <a:close/>
                </a:path>
              </a:pathLst>
            </a:custGeom>
            <a:solidFill>
              <a:srgbClr val="F5F3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982254" y="2791063"/>
            <a:ext cx="42783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7C3AED"/>
                </a:solidFill>
                <a:latin typeface="Aptos Bold"/>
                <a:ea typeface="Aptos Bold"/>
                <a:cs typeface="Aptos Bold"/>
                <a:sym typeface="Aptos Bold"/>
              </a:rPr>
              <a:t>WAITING ON OTHERS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82254" y="3399244"/>
            <a:ext cx="42096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Blocked by another person / dependency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83194" y="4590831"/>
            <a:ext cx="4476436" cy="1070677"/>
            <a:chOff x="0" y="0"/>
            <a:chExt cx="5968581" cy="14275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968619" cy="1427607"/>
            </a:xfrm>
            <a:custGeom>
              <a:avLst/>
              <a:gdLst/>
              <a:ahLst/>
              <a:cxnLst/>
              <a:rect r="r" b="b" t="t" l="l"/>
              <a:pathLst>
                <a:path h="1427607" w="5968619">
                  <a:moveTo>
                    <a:pt x="0" y="237964"/>
                  </a:moveTo>
                  <a:cubicBezTo>
                    <a:pt x="0" y="106581"/>
                    <a:pt x="80772" y="0"/>
                    <a:pt x="180340" y="0"/>
                  </a:cubicBezTo>
                  <a:lnTo>
                    <a:pt x="5788279" y="0"/>
                  </a:lnTo>
                  <a:cubicBezTo>
                    <a:pt x="5887847" y="0"/>
                    <a:pt x="5968619" y="106581"/>
                    <a:pt x="5968619" y="237964"/>
                  </a:cubicBezTo>
                  <a:lnTo>
                    <a:pt x="5968619" y="1189655"/>
                  </a:lnTo>
                  <a:cubicBezTo>
                    <a:pt x="5968619" y="1321038"/>
                    <a:pt x="5887847" y="1427607"/>
                    <a:pt x="5788279" y="1427607"/>
                  </a:cubicBezTo>
                  <a:lnTo>
                    <a:pt x="180340" y="1427607"/>
                  </a:lnTo>
                  <a:cubicBezTo>
                    <a:pt x="80772" y="1427607"/>
                    <a:pt x="0" y="1321038"/>
                    <a:pt x="0" y="11896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160704" y="4799371"/>
            <a:ext cx="393513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Q3 campaign deck • waiting on Neha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95429" y="2325919"/>
            <a:ext cx="5203955" cy="6260916"/>
            <a:chOff x="0" y="0"/>
            <a:chExt cx="6938607" cy="83478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38645" cy="8347837"/>
            </a:xfrm>
            <a:custGeom>
              <a:avLst/>
              <a:gdLst/>
              <a:ahLst/>
              <a:cxnLst/>
              <a:rect r="r" b="b" t="t" l="l"/>
              <a:pathLst>
                <a:path h="8347837" w="6938645">
                  <a:moveTo>
                    <a:pt x="0" y="1156462"/>
                  </a:moveTo>
                  <a:cubicBezTo>
                    <a:pt x="0" y="517779"/>
                    <a:pt x="517779" y="0"/>
                    <a:pt x="1156462" y="0"/>
                  </a:cubicBezTo>
                  <a:lnTo>
                    <a:pt x="5782183" y="0"/>
                  </a:lnTo>
                  <a:cubicBezTo>
                    <a:pt x="6420866" y="0"/>
                    <a:pt x="6938645" y="517779"/>
                    <a:pt x="6938645" y="1156462"/>
                  </a:cubicBezTo>
                  <a:lnTo>
                    <a:pt x="6938645" y="7191375"/>
                  </a:lnTo>
                  <a:cubicBezTo>
                    <a:pt x="6938645" y="7830058"/>
                    <a:pt x="6420866" y="8347837"/>
                    <a:pt x="5782183" y="8347837"/>
                  </a:cubicBezTo>
                  <a:lnTo>
                    <a:pt x="1156462" y="8347837"/>
                  </a:lnTo>
                  <a:cubicBezTo>
                    <a:pt x="517779" y="8347837"/>
                    <a:pt x="0" y="7830058"/>
                    <a:pt x="0" y="7191375"/>
                  </a:cubicBezTo>
                  <a:close/>
                </a:path>
              </a:pathLst>
            </a:custGeom>
            <a:solidFill>
              <a:srgbClr val="FFFBEB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637665" y="2791063"/>
            <a:ext cx="42783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59E0B"/>
                </a:solidFill>
                <a:latin typeface="Aptos Bold"/>
                <a:ea typeface="Aptos Bold"/>
                <a:cs typeface="Aptos Bold"/>
                <a:sym typeface="Aptos Bold"/>
              </a:rPr>
              <a:t>UNCLEAR OWNERSHIP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37665" y="3399244"/>
            <a:ext cx="4209669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Ownership not established in supplied data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538596" y="4590831"/>
            <a:ext cx="4476436" cy="811406"/>
            <a:chOff x="0" y="0"/>
            <a:chExt cx="5968581" cy="10818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968619" cy="1081913"/>
            </a:xfrm>
            <a:custGeom>
              <a:avLst/>
              <a:gdLst/>
              <a:ahLst/>
              <a:cxnLst/>
              <a:rect r="r" b="b" t="t" l="l"/>
              <a:pathLst>
                <a:path h="1081913" w="5968619">
                  <a:moveTo>
                    <a:pt x="0" y="180340"/>
                  </a:moveTo>
                  <a:cubicBezTo>
                    <a:pt x="0" y="80772"/>
                    <a:pt x="80772" y="0"/>
                    <a:pt x="180340" y="0"/>
                  </a:cubicBezTo>
                  <a:lnTo>
                    <a:pt x="5788279" y="0"/>
                  </a:lnTo>
                  <a:cubicBezTo>
                    <a:pt x="5887847" y="0"/>
                    <a:pt x="5968619" y="80772"/>
                    <a:pt x="5968619" y="180340"/>
                  </a:cubicBezTo>
                  <a:lnTo>
                    <a:pt x="5968619" y="901573"/>
                  </a:lnTo>
                  <a:cubicBezTo>
                    <a:pt x="5968619" y="1001141"/>
                    <a:pt x="5887847" y="1081913"/>
                    <a:pt x="5788279" y="1081913"/>
                  </a:cubicBezTo>
                  <a:lnTo>
                    <a:pt x="180340" y="1081913"/>
                  </a:lnTo>
                  <a:cubicBezTo>
                    <a:pt x="80772" y="1081913"/>
                    <a:pt x="0" y="1001141"/>
                    <a:pt x="0" y="90157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2816116" y="4799371"/>
            <a:ext cx="393513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Mumbai office lease renewal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63049" y="653435"/>
            <a:ext cx="5565995" cy="626538"/>
            <a:chOff x="0" y="0"/>
            <a:chExt cx="1332600" cy="150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2600" cy="150004"/>
            </a:xfrm>
            <a:custGeom>
              <a:avLst/>
              <a:gdLst/>
              <a:ahLst/>
              <a:cxnLst/>
              <a:rect r="r" b="b" t="t" l="l"/>
              <a:pathLst>
                <a:path h="150004" w="1332600">
                  <a:moveTo>
                    <a:pt x="31991" y="0"/>
                  </a:moveTo>
                  <a:lnTo>
                    <a:pt x="1300608" y="0"/>
                  </a:lnTo>
                  <a:cubicBezTo>
                    <a:pt x="1309093" y="0"/>
                    <a:pt x="1317230" y="3371"/>
                    <a:pt x="1323230" y="9370"/>
                  </a:cubicBezTo>
                  <a:cubicBezTo>
                    <a:pt x="1329229" y="15370"/>
                    <a:pt x="1332600" y="23507"/>
                    <a:pt x="1332600" y="31991"/>
                  </a:cubicBezTo>
                  <a:lnTo>
                    <a:pt x="1332600" y="118013"/>
                  </a:lnTo>
                  <a:cubicBezTo>
                    <a:pt x="1332600" y="135681"/>
                    <a:pt x="1318277" y="150004"/>
                    <a:pt x="1300608" y="150004"/>
                  </a:cubicBezTo>
                  <a:lnTo>
                    <a:pt x="31991" y="150004"/>
                  </a:lnTo>
                  <a:cubicBezTo>
                    <a:pt x="14323" y="150004"/>
                    <a:pt x="0" y="135681"/>
                    <a:pt x="0" y="118013"/>
                  </a:cubicBezTo>
                  <a:lnTo>
                    <a:pt x="0" y="31991"/>
                  </a:lnTo>
                  <a:cubicBezTo>
                    <a:pt x="0" y="14323"/>
                    <a:pt x="14323" y="0"/>
                    <a:pt x="31991" y="0"/>
                  </a:cubicBezTo>
                  <a:close/>
                </a:path>
              </a:pathLst>
            </a:custGeom>
            <a:solidFill>
              <a:srgbClr val="053F2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63049" y="1498410"/>
            <a:ext cx="5565995" cy="626538"/>
            <a:chOff x="0" y="0"/>
            <a:chExt cx="1332600" cy="1500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2600" cy="150004"/>
            </a:xfrm>
            <a:custGeom>
              <a:avLst/>
              <a:gdLst/>
              <a:ahLst/>
              <a:cxnLst/>
              <a:rect r="r" b="b" t="t" l="l"/>
              <a:pathLst>
                <a:path h="150004" w="1332600">
                  <a:moveTo>
                    <a:pt x="31991" y="0"/>
                  </a:moveTo>
                  <a:lnTo>
                    <a:pt x="1300608" y="0"/>
                  </a:lnTo>
                  <a:cubicBezTo>
                    <a:pt x="1309093" y="0"/>
                    <a:pt x="1317230" y="3371"/>
                    <a:pt x="1323230" y="9370"/>
                  </a:cubicBezTo>
                  <a:cubicBezTo>
                    <a:pt x="1329229" y="15370"/>
                    <a:pt x="1332600" y="23507"/>
                    <a:pt x="1332600" y="31991"/>
                  </a:cubicBezTo>
                  <a:lnTo>
                    <a:pt x="1332600" y="118013"/>
                  </a:lnTo>
                  <a:cubicBezTo>
                    <a:pt x="1332600" y="135681"/>
                    <a:pt x="1318277" y="150004"/>
                    <a:pt x="1300608" y="150004"/>
                  </a:cubicBezTo>
                  <a:lnTo>
                    <a:pt x="31991" y="150004"/>
                  </a:lnTo>
                  <a:cubicBezTo>
                    <a:pt x="14323" y="150004"/>
                    <a:pt x="0" y="135681"/>
                    <a:pt x="0" y="118013"/>
                  </a:cubicBezTo>
                  <a:lnTo>
                    <a:pt x="0" y="31991"/>
                  </a:lnTo>
                  <a:cubicBezTo>
                    <a:pt x="0" y="14323"/>
                    <a:pt x="14323" y="0"/>
                    <a:pt x="31991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63049" y="2343384"/>
            <a:ext cx="5565995" cy="626538"/>
            <a:chOff x="0" y="0"/>
            <a:chExt cx="1332600" cy="1500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2600" cy="150004"/>
            </a:xfrm>
            <a:custGeom>
              <a:avLst/>
              <a:gdLst/>
              <a:ahLst/>
              <a:cxnLst/>
              <a:rect r="r" b="b" t="t" l="l"/>
              <a:pathLst>
                <a:path h="150004" w="1332600">
                  <a:moveTo>
                    <a:pt x="31991" y="0"/>
                  </a:moveTo>
                  <a:lnTo>
                    <a:pt x="1300608" y="0"/>
                  </a:lnTo>
                  <a:cubicBezTo>
                    <a:pt x="1309093" y="0"/>
                    <a:pt x="1317230" y="3371"/>
                    <a:pt x="1323230" y="9370"/>
                  </a:cubicBezTo>
                  <a:cubicBezTo>
                    <a:pt x="1329229" y="15370"/>
                    <a:pt x="1332600" y="23507"/>
                    <a:pt x="1332600" y="31991"/>
                  </a:cubicBezTo>
                  <a:lnTo>
                    <a:pt x="1332600" y="118013"/>
                  </a:lnTo>
                  <a:cubicBezTo>
                    <a:pt x="1332600" y="135681"/>
                    <a:pt x="1318277" y="150004"/>
                    <a:pt x="1300608" y="150004"/>
                  </a:cubicBezTo>
                  <a:lnTo>
                    <a:pt x="31991" y="150004"/>
                  </a:lnTo>
                  <a:cubicBezTo>
                    <a:pt x="14323" y="150004"/>
                    <a:pt x="0" y="135681"/>
                    <a:pt x="0" y="118013"/>
                  </a:cubicBezTo>
                  <a:lnTo>
                    <a:pt x="0" y="31991"/>
                  </a:lnTo>
                  <a:cubicBezTo>
                    <a:pt x="0" y="14323"/>
                    <a:pt x="14323" y="0"/>
                    <a:pt x="31991" y="0"/>
                  </a:cubicBezTo>
                  <a:close/>
                </a:path>
              </a:pathLst>
            </a:custGeom>
            <a:solidFill>
              <a:srgbClr val="053F2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163049" y="3188359"/>
            <a:ext cx="5565995" cy="626538"/>
            <a:chOff x="0" y="0"/>
            <a:chExt cx="1332600" cy="1500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2600" cy="150004"/>
            </a:xfrm>
            <a:custGeom>
              <a:avLst/>
              <a:gdLst/>
              <a:ahLst/>
              <a:cxnLst/>
              <a:rect r="r" b="b" t="t" l="l"/>
              <a:pathLst>
                <a:path h="150004" w="1332600">
                  <a:moveTo>
                    <a:pt x="31991" y="0"/>
                  </a:moveTo>
                  <a:lnTo>
                    <a:pt x="1300608" y="0"/>
                  </a:lnTo>
                  <a:cubicBezTo>
                    <a:pt x="1309093" y="0"/>
                    <a:pt x="1317230" y="3371"/>
                    <a:pt x="1323230" y="9370"/>
                  </a:cubicBezTo>
                  <a:cubicBezTo>
                    <a:pt x="1329229" y="15370"/>
                    <a:pt x="1332600" y="23507"/>
                    <a:pt x="1332600" y="31991"/>
                  </a:cubicBezTo>
                  <a:lnTo>
                    <a:pt x="1332600" y="118013"/>
                  </a:lnTo>
                  <a:cubicBezTo>
                    <a:pt x="1332600" y="135681"/>
                    <a:pt x="1318277" y="150004"/>
                    <a:pt x="1300608" y="150004"/>
                  </a:cubicBezTo>
                  <a:lnTo>
                    <a:pt x="31991" y="150004"/>
                  </a:lnTo>
                  <a:cubicBezTo>
                    <a:pt x="14323" y="150004"/>
                    <a:pt x="0" y="135681"/>
                    <a:pt x="0" y="118013"/>
                  </a:cubicBezTo>
                  <a:lnTo>
                    <a:pt x="0" y="31991"/>
                  </a:lnTo>
                  <a:cubicBezTo>
                    <a:pt x="0" y="14323"/>
                    <a:pt x="14323" y="0"/>
                    <a:pt x="31991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163049" y="4033334"/>
            <a:ext cx="5565995" cy="626538"/>
            <a:chOff x="0" y="0"/>
            <a:chExt cx="1332600" cy="1500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2600" cy="150004"/>
            </a:xfrm>
            <a:custGeom>
              <a:avLst/>
              <a:gdLst/>
              <a:ahLst/>
              <a:cxnLst/>
              <a:rect r="r" b="b" t="t" l="l"/>
              <a:pathLst>
                <a:path h="150004" w="1332600">
                  <a:moveTo>
                    <a:pt x="31991" y="0"/>
                  </a:moveTo>
                  <a:lnTo>
                    <a:pt x="1300608" y="0"/>
                  </a:lnTo>
                  <a:cubicBezTo>
                    <a:pt x="1309093" y="0"/>
                    <a:pt x="1317230" y="3371"/>
                    <a:pt x="1323230" y="9370"/>
                  </a:cubicBezTo>
                  <a:cubicBezTo>
                    <a:pt x="1329229" y="15370"/>
                    <a:pt x="1332600" y="23507"/>
                    <a:pt x="1332600" y="31991"/>
                  </a:cubicBezTo>
                  <a:lnTo>
                    <a:pt x="1332600" y="118013"/>
                  </a:lnTo>
                  <a:cubicBezTo>
                    <a:pt x="1332600" y="135681"/>
                    <a:pt x="1318277" y="150004"/>
                    <a:pt x="1300608" y="150004"/>
                  </a:cubicBezTo>
                  <a:lnTo>
                    <a:pt x="31991" y="150004"/>
                  </a:lnTo>
                  <a:cubicBezTo>
                    <a:pt x="14323" y="150004"/>
                    <a:pt x="0" y="135681"/>
                    <a:pt x="0" y="118013"/>
                  </a:cubicBezTo>
                  <a:lnTo>
                    <a:pt x="0" y="31991"/>
                  </a:lnTo>
                  <a:cubicBezTo>
                    <a:pt x="0" y="14323"/>
                    <a:pt x="14323" y="0"/>
                    <a:pt x="31991" y="0"/>
                  </a:cubicBezTo>
                  <a:close/>
                </a:path>
              </a:pathLst>
            </a:custGeom>
            <a:solidFill>
              <a:srgbClr val="053F2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40780" y="1275555"/>
            <a:ext cx="710322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9000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Daily Action Brief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43432" y="814336"/>
            <a:ext cx="4405230" cy="34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518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MY ACTIONS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43432" y="1659310"/>
            <a:ext cx="4405230" cy="34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518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WAITING ON OTHERS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3432" y="2504285"/>
            <a:ext cx="4405230" cy="34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518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UNCLEAR OWNERSHIP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43432" y="3349259"/>
            <a:ext cx="4405230" cy="34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518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DEADLINES &amp; PRIORITIES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43432" y="4194234"/>
            <a:ext cx="4405230" cy="34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  <a:spcBef>
                <a:spcPct val="0"/>
              </a:spcBef>
            </a:pPr>
            <a:r>
              <a:rPr lang="en-US" b="true" sz="2518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OVERDUE / TODAY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65245" y="5219772"/>
            <a:ext cx="18681330" cy="9688063"/>
            <a:chOff x="0" y="0"/>
            <a:chExt cx="4920186" cy="25515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20186" cy="2551588"/>
            </a:xfrm>
            <a:custGeom>
              <a:avLst/>
              <a:gdLst/>
              <a:ahLst/>
              <a:cxnLst/>
              <a:rect r="r" b="b" t="t" l="l"/>
              <a:pathLst>
                <a:path h="2551588" w="4920186">
                  <a:moveTo>
                    <a:pt x="21135" y="0"/>
                  </a:moveTo>
                  <a:lnTo>
                    <a:pt x="4899050" y="0"/>
                  </a:lnTo>
                  <a:cubicBezTo>
                    <a:pt x="4910723" y="0"/>
                    <a:pt x="4920186" y="9463"/>
                    <a:pt x="4920186" y="21135"/>
                  </a:cubicBezTo>
                  <a:lnTo>
                    <a:pt x="4920186" y="2530453"/>
                  </a:lnTo>
                  <a:cubicBezTo>
                    <a:pt x="4920186" y="2536059"/>
                    <a:pt x="4917959" y="2541434"/>
                    <a:pt x="4913995" y="2545398"/>
                  </a:cubicBezTo>
                  <a:cubicBezTo>
                    <a:pt x="4910032" y="2549362"/>
                    <a:pt x="4904656" y="2551588"/>
                    <a:pt x="4899050" y="2551588"/>
                  </a:cubicBezTo>
                  <a:lnTo>
                    <a:pt x="21135" y="2551588"/>
                  </a:lnTo>
                  <a:cubicBezTo>
                    <a:pt x="9463" y="2551588"/>
                    <a:pt x="0" y="2542126"/>
                    <a:pt x="0" y="2530453"/>
                  </a:cubicBezTo>
                  <a:lnTo>
                    <a:pt x="0" y="21135"/>
                  </a:lnTo>
                  <a:cubicBezTo>
                    <a:pt x="0" y="9463"/>
                    <a:pt x="9463" y="0"/>
                    <a:pt x="21135" y="0"/>
                  </a:cubicBezTo>
                  <a:close/>
                </a:path>
              </a:pathLst>
            </a:custGeom>
            <a:solidFill>
              <a:srgbClr val="64988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920186" cy="25896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197277" y="5335966"/>
            <a:ext cx="13893447" cy="4951034"/>
          </a:xfrm>
          <a:custGeom>
            <a:avLst/>
            <a:gdLst/>
            <a:ahLst/>
            <a:cxnLst/>
            <a:rect r="r" b="b" t="t" l="l"/>
            <a:pathLst>
              <a:path h="4951034" w="13893447">
                <a:moveTo>
                  <a:pt x="0" y="0"/>
                </a:moveTo>
                <a:lnTo>
                  <a:pt x="13893446" y="0"/>
                </a:lnTo>
                <a:lnTo>
                  <a:pt x="13893446" y="4951034"/>
                </a:lnTo>
                <a:lnTo>
                  <a:pt x="0" y="49510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194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0226" y="584762"/>
            <a:ext cx="15451714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Natural-Language Q&amp;A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694718" y="1686487"/>
            <a:ext cx="5937222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Grounded response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94718" y="3020064"/>
            <a:ext cx="5937222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Answers are constrained to the supplied Assignment 1 data pack; unsupported facts are not generated.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84615" y="2120017"/>
            <a:ext cx="5505945" cy="6741347"/>
            <a:chOff x="0" y="0"/>
            <a:chExt cx="7341260" cy="89884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41235" cy="8988425"/>
            </a:xfrm>
            <a:custGeom>
              <a:avLst/>
              <a:gdLst/>
              <a:ahLst/>
              <a:cxnLst/>
              <a:rect r="r" b="b" t="t" l="l"/>
              <a:pathLst>
                <a:path h="8988425" w="7341235">
                  <a:moveTo>
                    <a:pt x="0" y="1223518"/>
                  </a:moveTo>
                  <a:cubicBezTo>
                    <a:pt x="0" y="547751"/>
                    <a:pt x="547751" y="0"/>
                    <a:pt x="1223518" y="0"/>
                  </a:cubicBezTo>
                  <a:lnTo>
                    <a:pt x="6117717" y="0"/>
                  </a:lnTo>
                  <a:cubicBezTo>
                    <a:pt x="6793484" y="0"/>
                    <a:pt x="7341235" y="547751"/>
                    <a:pt x="7341235" y="1223518"/>
                  </a:cubicBezTo>
                  <a:lnTo>
                    <a:pt x="7341235" y="7764907"/>
                  </a:lnTo>
                  <a:cubicBezTo>
                    <a:pt x="7341235" y="8440674"/>
                    <a:pt x="6793484" y="8988425"/>
                    <a:pt x="6117717" y="8988425"/>
                  </a:cubicBezTo>
                  <a:lnTo>
                    <a:pt x="1223518" y="8988425"/>
                  </a:lnTo>
                  <a:cubicBezTo>
                    <a:pt x="547751" y="8988425"/>
                    <a:pt x="0" y="8440674"/>
                    <a:pt x="0" y="7764907"/>
                  </a:cubicBezTo>
                  <a:close/>
                </a:path>
              </a:pathLst>
            </a:custGeom>
            <a:solidFill>
              <a:srgbClr val="053F26"/>
            </a:solidFill>
            <a:ln w="15252" cap="sq">
              <a:solidFill>
                <a:srgbClr val="172554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4116" y="2722436"/>
            <a:ext cx="118979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C7D2FE"/>
                </a:solidFill>
                <a:latin typeface="Aptos Bold"/>
                <a:ea typeface="Aptos Bold"/>
                <a:cs typeface="Aptos Bold"/>
                <a:sym typeface="Aptos Bold"/>
              </a:rPr>
              <a:t>ASK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4116" y="3536509"/>
            <a:ext cx="427830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“What did I promise Raghav?”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5595518"/>
            <a:ext cx="4141041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E2E8F0"/>
                </a:solidFill>
                <a:latin typeface="Aptos"/>
                <a:ea typeface="Aptos"/>
                <a:cs typeface="Aptos"/>
                <a:sym typeface="Aptos"/>
              </a:rPr>
              <a:t>The user can ask questions in natural language instead of navigating every source manually.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55733" y="2120017"/>
            <a:ext cx="10516200" cy="6741347"/>
            <a:chOff x="0" y="0"/>
            <a:chExt cx="14021600" cy="89884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21561" cy="8988425"/>
            </a:xfrm>
            <a:custGeom>
              <a:avLst/>
              <a:gdLst/>
              <a:ahLst/>
              <a:cxnLst/>
              <a:rect r="r" b="b" t="t" l="l"/>
              <a:pathLst>
                <a:path h="8988425" w="14021561">
                  <a:moveTo>
                    <a:pt x="0" y="1498092"/>
                  </a:moveTo>
                  <a:cubicBezTo>
                    <a:pt x="0" y="670687"/>
                    <a:pt x="670687" y="0"/>
                    <a:pt x="1498092" y="0"/>
                  </a:cubicBezTo>
                  <a:lnTo>
                    <a:pt x="12523470" y="0"/>
                  </a:lnTo>
                  <a:cubicBezTo>
                    <a:pt x="13350875" y="0"/>
                    <a:pt x="14021561" y="670687"/>
                    <a:pt x="14021561" y="1498092"/>
                  </a:cubicBezTo>
                  <a:lnTo>
                    <a:pt x="14021561" y="7490333"/>
                  </a:lnTo>
                  <a:cubicBezTo>
                    <a:pt x="14021561" y="8317738"/>
                    <a:pt x="13350875" y="8988425"/>
                    <a:pt x="12523470" y="8988425"/>
                  </a:cubicBezTo>
                  <a:lnTo>
                    <a:pt x="1498092" y="8988425"/>
                  </a:lnTo>
                  <a:cubicBezTo>
                    <a:pt x="670687" y="8988425"/>
                    <a:pt x="0" y="8317738"/>
                    <a:pt x="0" y="749033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435234" y="2653798"/>
            <a:ext cx="3386071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1851" b="true">
                <a:solidFill>
                  <a:srgbClr val="4F46E5"/>
                </a:solidFill>
                <a:latin typeface="Aptos Bold"/>
                <a:ea typeface="Aptos Bold"/>
                <a:cs typeface="Aptos Bold"/>
                <a:sym typeface="Aptos Bold"/>
              </a:rPr>
              <a:t>GROUNDED RESPONSE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5234" y="3271504"/>
            <a:ext cx="640594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</a:pPr>
            <a:r>
              <a:rPr lang="en-US" sz="2852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What you promised Raghav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35234" y="4085577"/>
            <a:ext cx="8602228" cy="741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You promised to send the updated vendor list to Raghav Sethi.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336174" y="5139900"/>
            <a:ext cx="4339171" cy="481965"/>
            <a:chOff x="0" y="0"/>
            <a:chExt cx="5785561" cy="6426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85485" cy="642620"/>
            </a:xfrm>
            <a:custGeom>
              <a:avLst/>
              <a:gdLst/>
              <a:ahLst/>
              <a:cxnLst/>
              <a:rect r="r" b="b" t="t" l="l"/>
              <a:pathLst>
                <a:path h="642620" w="5785485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5678424" y="0"/>
                  </a:lnTo>
                  <a:cubicBezTo>
                    <a:pt x="5737606" y="0"/>
                    <a:pt x="5785485" y="48006"/>
                    <a:pt x="5785485" y="107061"/>
                  </a:cubicBezTo>
                  <a:lnTo>
                    <a:pt x="5785485" y="535559"/>
                  </a:lnTo>
                  <a:cubicBezTo>
                    <a:pt x="5785485" y="594741"/>
                    <a:pt x="5737479" y="642620"/>
                    <a:pt x="5678424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EEF2FF"/>
            </a:solidFill>
            <a:ln w="15252" cap="sq">
              <a:solidFill>
                <a:srgbClr val="EEF2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7343794" y="5188706"/>
            <a:ext cx="4323921" cy="343168"/>
            <a:chOff x="0" y="0"/>
            <a:chExt cx="5765228" cy="4575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224" cy="457559"/>
            </a:xfrm>
            <a:custGeom>
              <a:avLst/>
              <a:gdLst/>
              <a:ahLst/>
              <a:cxnLst/>
              <a:rect r="r" b="b" t="t" l="l"/>
              <a:pathLst>
                <a:path h="457559" w="5765224">
                  <a:moveTo>
                    <a:pt x="0" y="0"/>
                  </a:moveTo>
                  <a:lnTo>
                    <a:pt x="5765224" y="0"/>
                  </a:lnTo>
                  <a:lnTo>
                    <a:pt x="5765224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511" r="0" b="-1955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65228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4F46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Latest commitment: Wednesday morning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65988" y="5139900"/>
            <a:ext cx="2142896" cy="481965"/>
            <a:chOff x="0" y="0"/>
            <a:chExt cx="2857195" cy="6426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7119" cy="642620"/>
            </a:xfrm>
            <a:custGeom>
              <a:avLst/>
              <a:gdLst/>
              <a:ahLst/>
              <a:cxnLst/>
              <a:rect r="r" b="b" t="t" l="l"/>
              <a:pathLst>
                <a:path h="642620" w="2857119">
                  <a:moveTo>
                    <a:pt x="0" y="107061"/>
                  </a:moveTo>
                  <a:cubicBezTo>
                    <a:pt x="0" y="48006"/>
                    <a:pt x="48006" y="0"/>
                    <a:pt x="107061" y="0"/>
                  </a:cubicBezTo>
                  <a:lnTo>
                    <a:pt x="2750058" y="0"/>
                  </a:lnTo>
                  <a:cubicBezTo>
                    <a:pt x="2809240" y="0"/>
                    <a:pt x="2857119" y="48006"/>
                    <a:pt x="2857119" y="107061"/>
                  </a:cubicBezTo>
                  <a:lnTo>
                    <a:pt x="2857119" y="535559"/>
                  </a:lnTo>
                  <a:cubicBezTo>
                    <a:pt x="2857119" y="594741"/>
                    <a:pt x="2809113" y="642620"/>
                    <a:pt x="2750058" y="642620"/>
                  </a:cubicBezTo>
                  <a:lnTo>
                    <a:pt x="107061" y="642620"/>
                  </a:lnTo>
                  <a:cubicBezTo>
                    <a:pt x="48006" y="642620"/>
                    <a:pt x="0" y="594614"/>
                    <a:pt x="0" y="535559"/>
                  </a:cubicBezTo>
                  <a:close/>
                </a:path>
              </a:pathLst>
            </a:custGeom>
            <a:solidFill>
              <a:srgbClr val="FFF7F7"/>
            </a:solidFill>
            <a:ln w="15252" cap="sq">
              <a:solidFill>
                <a:srgbClr val="FFF7F7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1873617" y="5188706"/>
            <a:ext cx="2127647" cy="343168"/>
            <a:chOff x="0" y="0"/>
            <a:chExt cx="2836862" cy="4575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36856" cy="457559"/>
            </a:xfrm>
            <a:custGeom>
              <a:avLst/>
              <a:gdLst/>
              <a:ahLst/>
              <a:cxnLst/>
              <a:rect r="r" b="b" t="t" l="l"/>
              <a:pathLst>
                <a:path h="457559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457559"/>
                  </a:lnTo>
                  <a:lnTo>
                    <a:pt x="0" y="4575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836862" cy="457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Status: overdue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7435234" y="6154112"/>
            <a:ext cx="146432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64748B"/>
                </a:solidFill>
                <a:latin typeface="Aptos Bold"/>
                <a:ea typeface="Aptos Bold"/>
                <a:cs typeface="Aptos Bold"/>
                <a:sym typeface="Aptos Bold"/>
              </a:rPr>
              <a:t>Evidence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35234" y="6597567"/>
            <a:ext cx="901402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Leadership Sync — commitment stated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Vendor List email — commitment moved to Wednesday morning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Voice Note — reminder to send the vendor list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• Vendor List email — Raghav followed up at 8:45 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02193" y="639763"/>
            <a:ext cx="13953981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 strike="noStrike" u="none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AI Tools &amp; Development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1880" y="2257282"/>
            <a:ext cx="16281416" cy="1662455"/>
            <a:chOff x="0" y="0"/>
            <a:chExt cx="21708554" cy="2216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08618" cy="2216658"/>
            </a:xfrm>
            <a:custGeom>
              <a:avLst/>
              <a:gdLst/>
              <a:ahLst/>
              <a:cxnLst/>
              <a:rect r="r" b="b" t="t" l="l"/>
              <a:pathLst>
                <a:path h="2216658" w="2170861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1339175" y="0"/>
                  </a:lnTo>
                  <a:cubicBezTo>
                    <a:pt x="21543263" y="0"/>
                    <a:pt x="21708618" y="165354"/>
                    <a:pt x="21708618" y="369443"/>
                  </a:cubicBezTo>
                  <a:lnTo>
                    <a:pt x="21708618" y="1847215"/>
                  </a:lnTo>
                  <a:cubicBezTo>
                    <a:pt x="21708618" y="2051304"/>
                    <a:pt x="21543263" y="2216658"/>
                    <a:pt x="21339175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EEF2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32744" y="2681249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004259"/>
                </a:solidFill>
                <a:latin typeface="Aptos Bold"/>
                <a:ea typeface="Aptos Bold"/>
                <a:cs typeface="Aptos Bold"/>
                <a:sym typeface="Aptos Bold"/>
              </a:rPr>
              <a:t>ChatGPT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78087" y="2866220"/>
            <a:ext cx="1210254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4259"/>
                </a:solidFill>
                <a:latin typeface="Aptos"/>
                <a:ea typeface="Aptos"/>
                <a:cs typeface="Aptos"/>
                <a:sym typeface="Aptos"/>
              </a:rPr>
              <a:t>Used for , architecture reasoning, code assistance, debugging, and  iteration.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1880" y="4384929"/>
            <a:ext cx="16281416" cy="1662455"/>
            <a:chOff x="0" y="0"/>
            <a:chExt cx="21708554" cy="2216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08618" cy="2216658"/>
            </a:xfrm>
            <a:custGeom>
              <a:avLst/>
              <a:gdLst/>
              <a:ahLst/>
              <a:cxnLst/>
              <a:rect r="r" b="b" t="t" l="l"/>
              <a:pathLst>
                <a:path h="2216658" w="2170861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1339175" y="0"/>
                  </a:lnTo>
                  <a:cubicBezTo>
                    <a:pt x="21543263" y="0"/>
                    <a:pt x="21708618" y="165354"/>
                    <a:pt x="21708618" y="369443"/>
                  </a:cubicBezTo>
                  <a:lnTo>
                    <a:pt x="21708618" y="1847215"/>
                  </a:lnTo>
                  <a:cubicBezTo>
                    <a:pt x="21708618" y="2051304"/>
                    <a:pt x="21543263" y="2216658"/>
                    <a:pt x="21339175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F5F3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32744" y="4808896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004259"/>
                </a:solidFill>
                <a:latin typeface="Aptos Bold"/>
                <a:ea typeface="Aptos Bold"/>
                <a:cs typeface="Aptos Bold"/>
                <a:sym typeface="Aptos Bold"/>
              </a:rPr>
              <a:t>Claude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32472" y="4806234"/>
            <a:ext cx="1210254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4259"/>
                </a:solidFill>
                <a:latin typeface="Aptos"/>
                <a:ea typeface="Aptos"/>
                <a:cs typeface="Aptos"/>
                <a:sym typeface="Aptos"/>
              </a:rPr>
              <a:t>Used to refine UI concepts/prompts and explore a polished executive-dashboard presentation for the prototype.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1880" y="6512566"/>
            <a:ext cx="16281416" cy="1662455"/>
            <a:chOff x="0" y="0"/>
            <a:chExt cx="21708554" cy="22166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08618" cy="2216658"/>
            </a:xfrm>
            <a:custGeom>
              <a:avLst/>
              <a:gdLst/>
              <a:ahLst/>
              <a:cxnLst/>
              <a:rect r="r" b="b" t="t" l="l"/>
              <a:pathLst>
                <a:path h="2216658" w="21708618">
                  <a:moveTo>
                    <a:pt x="0" y="369443"/>
                  </a:moveTo>
                  <a:cubicBezTo>
                    <a:pt x="0" y="165354"/>
                    <a:pt x="165354" y="0"/>
                    <a:pt x="369443" y="0"/>
                  </a:cubicBezTo>
                  <a:lnTo>
                    <a:pt x="21339175" y="0"/>
                  </a:lnTo>
                  <a:cubicBezTo>
                    <a:pt x="21543263" y="0"/>
                    <a:pt x="21708618" y="165354"/>
                    <a:pt x="21708618" y="369443"/>
                  </a:cubicBezTo>
                  <a:lnTo>
                    <a:pt x="21708618" y="1847215"/>
                  </a:lnTo>
                  <a:cubicBezTo>
                    <a:pt x="21708618" y="2051304"/>
                    <a:pt x="21543263" y="2216658"/>
                    <a:pt x="21339175" y="2216658"/>
                  </a:cubicBezTo>
                  <a:lnTo>
                    <a:pt x="369443" y="2216658"/>
                  </a:lnTo>
                  <a:cubicBezTo>
                    <a:pt x="165354" y="2216658"/>
                    <a:pt x="0" y="2051177"/>
                    <a:pt x="0" y="1847215"/>
                  </a:cubicBezTo>
                  <a:close/>
                </a:path>
              </a:pathLst>
            </a:custGeom>
            <a:solidFill>
              <a:srgbClr val="EFF8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32744" y="6936534"/>
            <a:ext cx="2699728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b="true" sz="2551">
                <a:solidFill>
                  <a:srgbClr val="004259"/>
                </a:solidFill>
                <a:latin typeface="Aptos Bold"/>
                <a:ea typeface="Aptos Bold"/>
                <a:cs typeface="Aptos Bold"/>
                <a:sym typeface="Aptos Bold"/>
              </a:rPr>
              <a:t>Google Stitch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78087" y="6933871"/>
            <a:ext cx="1210254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4259"/>
                </a:solidFill>
                <a:latin typeface="Aptos"/>
                <a:ea typeface="Aptos"/>
                <a:cs typeface="Aptos"/>
                <a:sym typeface="Aptos"/>
              </a:rPr>
              <a:t>Used for UI design exploration and visual direction before implementing the Streamlit interface.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8245" y="647369"/>
            <a:ext cx="14549859" cy="92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99"/>
              </a:lnSpc>
              <a:spcBef>
                <a:spcPct val="0"/>
              </a:spcBef>
            </a:pPr>
            <a:r>
              <a:rPr lang="en-US" b="true" sz="6999">
                <a:solidFill>
                  <a:srgbClr val="053F26"/>
                </a:solidFill>
                <a:latin typeface="Merriweather Bold"/>
                <a:ea typeface="Merriweather Bold"/>
                <a:cs typeface="Merriweather Bold"/>
                <a:sym typeface="Merriweather Bold"/>
              </a:rPr>
              <a:t>Complete Solution &amp; Demo Flow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84615" y="2257282"/>
            <a:ext cx="3035132" cy="3035132"/>
            <a:chOff x="0" y="0"/>
            <a:chExt cx="4046842" cy="40468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46855" cy="4046855"/>
            </a:xfrm>
            <a:custGeom>
              <a:avLst/>
              <a:gdLst/>
              <a:ahLst/>
              <a:cxnLst/>
              <a:rect r="r" b="b" t="t" l="l"/>
              <a:pathLst>
                <a:path h="4046855" w="4046855">
                  <a:moveTo>
                    <a:pt x="0" y="674497"/>
                  </a:moveTo>
                  <a:cubicBezTo>
                    <a:pt x="0" y="302006"/>
                    <a:pt x="302006" y="0"/>
                    <a:pt x="674497" y="0"/>
                  </a:cubicBezTo>
                  <a:lnTo>
                    <a:pt x="3372358" y="0"/>
                  </a:lnTo>
                  <a:cubicBezTo>
                    <a:pt x="3744849" y="0"/>
                    <a:pt x="4046855" y="302006"/>
                    <a:pt x="4046855" y="674497"/>
                  </a:cubicBezTo>
                  <a:lnTo>
                    <a:pt x="4046855" y="3372358"/>
                  </a:lnTo>
                  <a:cubicBezTo>
                    <a:pt x="4046855" y="3744849"/>
                    <a:pt x="3744849" y="4046855"/>
                    <a:pt x="3372358" y="4046855"/>
                  </a:cubicBezTo>
                  <a:lnTo>
                    <a:pt x="674497" y="4046855"/>
                  </a:lnTo>
                  <a:cubicBezTo>
                    <a:pt x="302006" y="4046855"/>
                    <a:pt x="0" y="3744849"/>
                    <a:pt x="0" y="33723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017833" y="2608078"/>
            <a:ext cx="754971" cy="754971"/>
            <a:chOff x="0" y="0"/>
            <a:chExt cx="1006627" cy="10066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341026" y="2845975"/>
            <a:ext cx="1085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36957" y="3779387"/>
            <a:ext cx="7304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Input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8214" y="4369641"/>
            <a:ext cx="228793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Emails • Meeting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Calendar • Voice</a:t>
            </a:r>
          </a:p>
        </p:txBody>
      </p:sp>
      <p:sp>
        <p:nvSpPr>
          <p:cNvPr name="AutoShape 10" id="10"/>
          <p:cNvSpPr/>
          <p:nvPr/>
        </p:nvSpPr>
        <p:spPr>
          <a:xfrm rot="237720">
            <a:off x="3897325" y="3765328"/>
            <a:ext cx="413937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343743" y="2257282"/>
            <a:ext cx="3035132" cy="3035132"/>
            <a:chOff x="0" y="0"/>
            <a:chExt cx="4046842" cy="40468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6855" cy="4046855"/>
            </a:xfrm>
            <a:custGeom>
              <a:avLst/>
              <a:gdLst/>
              <a:ahLst/>
              <a:cxnLst/>
              <a:rect r="r" b="b" t="t" l="l"/>
              <a:pathLst>
                <a:path h="4046855" w="4046855">
                  <a:moveTo>
                    <a:pt x="0" y="674497"/>
                  </a:moveTo>
                  <a:cubicBezTo>
                    <a:pt x="0" y="302006"/>
                    <a:pt x="302006" y="0"/>
                    <a:pt x="674497" y="0"/>
                  </a:cubicBezTo>
                  <a:lnTo>
                    <a:pt x="3372358" y="0"/>
                  </a:lnTo>
                  <a:cubicBezTo>
                    <a:pt x="3744849" y="0"/>
                    <a:pt x="4046855" y="302006"/>
                    <a:pt x="4046855" y="674497"/>
                  </a:cubicBezTo>
                  <a:lnTo>
                    <a:pt x="4046855" y="3372358"/>
                  </a:lnTo>
                  <a:cubicBezTo>
                    <a:pt x="4046855" y="3744849"/>
                    <a:pt x="3744849" y="4046855"/>
                    <a:pt x="3372358" y="4046855"/>
                  </a:cubicBezTo>
                  <a:lnTo>
                    <a:pt x="674497" y="4046855"/>
                  </a:lnTo>
                  <a:cubicBezTo>
                    <a:pt x="302006" y="4046855"/>
                    <a:pt x="0" y="3744849"/>
                    <a:pt x="0" y="33723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476961" y="2608078"/>
            <a:ext cx="754971" cy="754971"/>
            <a:chOff x="0" y="0"/>
            <a:chExt cx="1006627" cy="10066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800153" y="2845975"/>
            <a:ext cx="1085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99810" y="3779387"/>
            <a:ext cx="112299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Process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17342" y="4369641"/>
            <a:ext cx="228793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Normalize → Extract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Deduplicate → Classify</a:t>
            </a:r>
          </a:p>
        </p:txBody>
      </p:sp>
      <p:sp>
        <p:nvSpPr>
          <p:cNvPr name="AutoShape 18" id="18"/>
          <p:cNvSpPr/>
          <p:nvPr/>
        </p:nvSpPr>
        <p:spPr>
          <a:xfrm rot="237720">
            <a:off x="7356462" y="3765328"/>
            <a:ext cx="413937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7802880" y="2257282"/>
            <a:ext cx="3035132" cy="3035132"/>
            <a:chOff x="0" y="0"/>
            <a:chExt cx="4046842" cy="40468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46855" cy="4046855"/>
            </a:xfrm>
            <a:custGeom>
              <a:avLst/>
              <a:gdLst/>
              <a:ahLst/>
              <a:cxnLst/>
              <a:rect r="r" b="b" t="t" l="l"/>
              <a:pathLst>
                <a:path h="4046855" w="4046855">
                  <a:moveTo>
                    <a:pt x="0" y="674497"/>
                  </a:moveTo>
                  <a:cubicBezTo>
                    <a:pt x="0" y="302006"/>
                    <a:pt x="302006" y="0"/>
                    <a:pt x="674497" y="0"/>
                  </a:cubicBezTo>
                  <a:lnTo>
                    <a:pt x="3372358" y="0"/>
                  </a:lnTo>
                  <a:cubicBezTo>
                    <a:pt x="3744849" y="0"/>
                    <a:pt x="4046855" y="302006"/>
                    <a:pt x="4046855" y="674497"/>
                  </a:cubicBezTo>
                  <a:lnTo>
                    <a:pt x="4046855" y="3372358"/>
                  </a:lnTo>
                  <a:cubicBezTo>
                    <a:pt x="4046855" y="3744849"/>
                    <a:pt x="3744849" y="4046855"/>
                    <a:pt x="3372358" y="4046855"/>
                  </a:cubicBezTo>
                  <a:lnTo>
                    <a:pt x="674497" y="4046855"/>
                  </a:lnTo>
                  <a:cubicBezTo>
                    <a:pt x="302006" y="4046855"/>
                    <a:pt x="0" y="3744849"/>
                    <a:pt x="0" y="33723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8936098" y="2608078"/>
            <a:ext cx="754971" cy="754971"/>
            <a:chOff x="0" y="0"/>
            <a:chExt cx="1006627" cy="1006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38BDF8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259291" y="2845975"/>
            <a:ext cx="1085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98081" y="3779387"/>
            <a:ext cx="164472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Intelligence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76479" y="4369641"/>
            <a:ext cx="228793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Deadlines • Status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Ownership • Evidence</a:t>
            </a:r>
          </a:p>
        </p:txBody>
      </p:sp>
      <p:sp>
        <p:nvSpPr>
          <p:cNvPr name="AutoShape 26" id="26"/>
          <p:cNvSpPr/>
          <p:nvPr/>
        </p:nvSpPr>
        <p:spPr>
          <a:xfrm rot="237719">
            <a:off x="10815590" y="3765328"/>
            <a:ext cx="413937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1262017" y="2257282"/>
            <a:ext cx="3035132" cy="3035132"/>
            <a:chOff x="0" y="0"/>
            <a:chExt cx="4046842" cy="40468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46855" cy="4046855"/>
            </a:xfrm>
            <a:custGeom>
              <a:avLst/>
              <a:gdLst/>
              <a:ahLst/>
              <a:cxnLst/>
              <a:rect r="r" b="b" t="t" l="l"/>
              <a:pathLst>
                <a:path h="4046855" w="4046855">
                  <a:moveTo>
                    <a:pt x="0" y="674497"/>
                  </a:moveTo>
                  <a:cubicBezTo>
                    <a:pt x="0" y="302006"/>
                    <a:pt x="302006" y="0"/>
                    <a:pt x="674497" y="0"/>
                  </a:cubicBezTo>
                  <a:lnTo>
                    <a:pt x="3372358" y="0"/>
                  </a:lnTo>
                  <a:cubicBezTo>
                    <a:pt x="3744849" y="0"/>
                    <a:pt x="4046855" y="302006"/>
                    <a:pt x="4046855" y="674497"/>
                  </a:cubicBezTo>
                  <a:lnTo>
                    <a:pt x="4046855" y="3372358"/>
                  </a:lnTo>
                  <a:cubicBezTo>
                    <a:pt x="4046855" y="3744849"/>
                    <a:pt x="3744849" y="4046855"/>
                    <a:pt x="3372358" y="4046855"/>
                  </a:cubicBezTo>
                  <a:lnTo>
                    <a:pt x="674497" y="4046855"/>
                  </a:lnTo>
                  <a:cubicBezTo>
                    <a:pt x="302006" y="4046855"/>
                    <a:pt x="0" y="3744849"/>
                    <a:pt x="0" y="33723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395235" y="2608078"/>
            <a:ext cx="754971" cy="754971"/>
            <a:chOff x="0" y="0"/>
            <a:chExt cx="1006627" cy="10066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718428" y="2845975"/>
            <a:ext cx="1085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92201" y="3779387"/>
            <a:ext cx="97476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Output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635616" y="4369641"/>
            <a:ext cx="228793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Daily Action Brief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+ Natural-Language Q&amp;A</a:t>
            </a:r>
          </a:p>
        </p:txBody>
      </p:sp>
      <p:sp>
        <p:nvSpPr>
          <p:cNvPr name="AutoShape 34" id="34"/>
          <p:cNvSpPr/>
          <p:nvPr/>
        </p:nvSpPr>
        <p:spPr>
          <a:xfrm rot="237719">
            <a:off x="14274727" y="3765328"/>
            <a:ext cx="413937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4721145" y="2257282"/>
            <a:ext cx="3035132" cy="3035132"/>
            <a:chOff x="0" y="0"/>
            <a:chExt cx="4046842" cy="40468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46855" cy="4046855"/>
            </a:xfrm>
            <a:custGeom>
              <a:avLst/>
              <a:gdLst/>
              <a:ahLst/>
              <a:cxnLst/>
              <a:rect r="r" b="b" t="t" l="l"/>
              <a:pathLst>
                <a:path h="4046855" w="4046855">
                  <a:moveTo>
                    <a:pt x="0" y="674497"/>
                  </a:moveTo>
                  <a:cubicBezTo>
                    <a:pt x="0" y="302006"/>
                    <a:pt x="302006" y="0"/>
                    <a:pt x="674497" y="0"/>
                  </a:cubicBezTo>
                  <a:lnTo>
                    <a:pt x="3372358" y="0"/>
                  </a:lnTo>
                  <a:cubicBezTo>
                    <a:pt x="3744849" y="0"/>
                    <a:pt x="4046855" y="302006"/>
                    <a:pt x="4046855" y="674497"/>
                  </a:cubicBezTo>
                  <a:lnTo>
                    <a:pt x="4046855" y="3372358"/>
                  </a:lnTo>
                  <a:cubicBezTo>
                    <a:pt x="4046855" y="3744849"/>
                    <a:pt x="3744849" y="4046855"/>
                    <a:pt x="3372358" y="4046855"/>
                  </a:cubicBezTo>
                  <a:lnTo>
                    <a:pt x="674497" y="4046855"/>
                  </a:lnTo>
                  <a:cubicBezTo>
                    <a:pt x="302006" y="4046855"/>
                    <a:pt x="0" y="3744849"/>
                    <a:pt x="0" y="337235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E1E5EE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5854362" y="2608078"/>
            <a:ext cx="754971" cy="754971"/>
            <a:chOff x="0" y="0"/>
            <a:chExt cx="1006627" cy="10066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C55E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6177555" y="2845975"/>
            <a:ext cx="108585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823311" y="3779387"/>
            <a:ext cx="83081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72554"/>
                </a:solidFill>
                <a:latin typeface="Aptos Bold"/>
                <a:ea typeface="Aptos Bold"/>
                <a:cs typeface="Aptos Bold"/>
                <a:sym typeface="Aptos Bold"/>
              </a:rPr>
              <a:t>Demo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094753" y="4369641"/>
            <a:ext cx="2287934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Change scenario time</a:t>
            </a:r>
          </a:p>
          <a:p>
            <a:pPr algn="ctr">
              <a:lnSpc>
                <a:spcPts val="1891"/>
              </a:lnSpc>
            </a:pPr>
            <a:r>
              <a:rPr lang="en-US" sz="1576" b="true">
                <a:solidFill>
                  <a:srgbClr val="334155"/>
                </a:solidFill>
                <a:latin typeface="Aptos Bold"/>
                <a:ea typeface="Aptos Bold"/>
                <a:cs typeface="Aptos Bold"/>
                <a:sym typeface="Aptos Bold"/>
              </a:rPr>
              <a:t>and test questions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84615" y="6100762"/>
            <a:ext cx="16487318" cy="1868357"/>
            <a:chOff x="0" y="0"/>
            <a:chExt cx="21983090" cy="24911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1983064" cy="2491105"/>
            </a:xfrm>
            <a:custGeom>
              <a:avLst/>
              <a:gdLst/>
              <a:ahLst/>
              <a:cxnLst/>
              <a:rect r="r" b="b" t="t" l="l"/>
              <a:pathLst>
                <a:path h="2491105" w="21983064">
                  <a:moveTo>
                    <a:pt x="0" y="415163"/>
                  </a:moveTo>
                  <a:cubicBezTo>
                    <a:pt x="0" y="185928"/>
                    <a:pt x="185928" y="0"/>
                    <a:pt x="415163" y="0"/>
                  </a:cubicBezTo>
                  <a:lnTo>
                    <a:pt x="21567902" y="0"/>
                  </a:lnTo>
                  <a:cubicBezTo>
                    <a:pt x="21797265" y="0"/>
                    <a:pt x="21983064" y="185928"/>
                    <a:pt x="21983064" y="415163"/>
                  </a:cubicBezTo>
                  <a:lnTo>
                    <a:pt x="21983064" y="2075942"/>
                  </a:lnTo>
                  <a:cubicBezTo>
                    <a:pt x="21983064" y="2305304"/>
                    <a:pt x="21797138" y="2491105"/>
                    <a:pt x="21567902" y="2491105"/>
                  </a:cubicBezTo>
                  <a:lnTo>
                    <a:pt x="415163" y="2491105"/>
                  </a:lnTo>
                  <a:cubicBezTo>
                    <a:pt x="185928" y="2491105"/>
                    <a:pt x="0" y="2305304"/>
                    <a:pt x="0" y="2075942"/>
                  </a:cubicBezTo>
                  <a:close/>
                </a:path>
              </a:pathLst>
            </a:custGeom>
            <a:solidFill>
              <a:srgbClr val="053F26"/>
            </a:solidFill>
            <a:ln w="15252" cap="sq">
              <a:solidFill>
                <a:srgbClr val="172554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422935" y="6635439"/>
            <a:ext cx="194476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C7D2FE"/>
                </a:solidFill>
                <a:latin typeface="Aptos Bold"/>
                <a:ea typeface="Aptos Bold"/>
                <a:cs typeface="Aptos Bold"/>
                <a:sym typeface="Aptos Bold"/>
              </a:rPr>
              <a:t>DEMO CHECKLIST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3546148" y="6721164"/>
            <a:ext cx="1306340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1. Show Daily Action Brief  •  2. Open evidence  •  3. Change scenario time  •  4. Ask natural-language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DAHVduHrh84</dc:identifier>
  <dcterms:modified xsi:type="dcterms:W3CDTF">2011-08-01T06:04:30Z</dcterms:modified>
  <cp:revision>1</cp:revision>
  <dc:title>EXECUTIVE PRODUCTIVITY AGENT</dc:title>
</cp:coreProperties>
</file>